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146846959" r:id="rId2"/>
    <p:sldId id="2146846957" r:id="rId3"/>
    <p:sldId id="257" r:id="rId4"/>
    <p:sldId id="26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6D64D-777B-42E0-9435-7F41CC0FB3D8}" v="8" dt="2025-08-24T23:36:33.3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144" d="100"/>
          <a:sy n="144" d="100"/>
        </p:scale>
        <p:origin x="87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Pell" userId="fde4417573e980d9" providerId="LiveId" clId="{2606D64D-777B-42E0-9435-7F41CC0FB3D8}"/>
    <pc:docChg chg="undo custSel addSld delSld modSld sldOrd">
      <pc:chgData name="Mike Pell" userId="fde4417573e980d9" providerId="LiveId" clId="{2606D64D-777B-42E0-9435-7F41CC0FB3D8}" dt="2025-08-24T23:40:10.797" v="308" actId="20577"/>
      <pc:docMkLst>
        <pc:docMk/>
      </pc:docMkLst>
      <pc:sldChg chg="modSp del mod">
        <pc:chgData name="Mike Pell" userId="fde4417573e980d9" providerId="LiveId" clId="{2606D64D-777B-42E0-9435-7F41CC0FB3D8}" dt="2025-08-24T23:05:09.293" v="43" actId="47"/>
        <pc:sldMkLst>
          <pc:docMk/>
          <pc:sldMk cId="1316501715" sldId="274"/>
        </pc:sldMkLst>
        <pc:spChg chg="mod">
          <ac:chgData name="Mike Pell" userId="fde4417573e980d9" providerId="LiveId" clId="{2606D64D-777B-42E0-9435-7F41CC0FB3D8}" dt="2025-08-24T22:54:27.850" v="25"/>
          <ac:spMkLst>
            <pc:docMk/>
            <pc:sldMk cId="1316501715" sldId="274"/>
            <ac:spMk id="5" creationId="{1438D81C-5DFB-653B-3ADC-81B69FFF309A}"/>
          </ac:spMkLst>
        </pc:spChg>
        <pc:spChg chg="mod">
          <ac:chgData name="Mike Pell" userId="fde4417573e980d9" providerId="LiveId" clId="{2606D64D-777B-42E0-9435-7F41CC0FB3D8}" dt="2025-08-24T22:54:07.617" v="22" actId="404"/>
          <ac:spMkLst>
            <pc:docMk/>
            <pc:sldMk cId="1316501715" sldId="274"/>
            <ac:spMk id="6" creationId="{EAFD8417-E6ED-9652-6B3A-EEC6B65D9EBA}"/>
          </ac:spMkLst>
        </pc:spChg>
      </pc:sldChg>
      <pc:sldChg chg="delSp modSp add mod setBg">
        <pc:chgData name="Mike Pell" userId="fde4417573e980d9" providerId="LiveId" clId="{2606D64D-777B-42E0-9435-7F41CC0FB3D8}" dt="2025-08-24T23:30:16.408" v="83" actId="1076"/>
        <pc:sldMkLst>
          <pc:docMk/>
          <pc:sldMk cId="3776517958" sldId="2146846957"/>
        </pc:sldMkLst>
        <pc:spChg chg="del">
          <ac:chgData name="Mike Pell" userId="fde4417573e980d9" providerId="LiveId" clId="{2606D64D-777B-42E0-9435-7F41CC0FB3D8}" dt="2025-08-24T23:30:01.122" v="82" actId="478"/>
          <ac:spMkLst>
            <pc:docMk/>
            <pc:sldMk cId="3776517958" sldId="2146846957"/>
            <ac:spMk id="57" creationId="{660C0E33-181C-3F3E-623D-A72BC5416394}"/>
          </ac:spMkLst>
        </pc:spChg>
        <pc:spChg chg="del">
          <ac:chgData name="Mike Pell" userId="fde4417573e980d9" providerId="LiveId" clId="{2606D64D-777B-42E0-9435-7F41CC0FB3D8}" dt="2025-08-24T23:30:01.122" v="82" actId="478"/>
          <ac:spMkLst>
            <pc:docMk/>
            <pc:sldMk cId="3776517958" sldId="2146846957"/>
            <ac:spMk id="60" creationId="{0C283807-EC13-C8C9-8FCB-344A33DAA615}"/>
          </ac:spMkLst>
        </pc:spChg>
        <pc:spChg chg="mod">
          <ac:chgData name="Mike Pell" userId="fde4417573e980d9" providerId="LiveId" clId="{2606D64D-777B-42E0-9435-7F41CC0FB3D8}" dt="2025-08-24T23:30:16.408" v="83" actId="1076"/>
          <ac:spMkLst>
            <pc:docMk/>
            <pc:sldMk cId="3776517958" sldId="2146846957"/>
            <ac:spMk id="63" creationId="{59D999F7-D870-9363-1554-D33D7989BFD1}"/>
          </ac:spMkLst>
        </pc:spChg>
      </pc:sldChg>
      <pc:sldChg chg="modSp add mod ord setBg">
        <pc:chgData name="Mike Pell" userId="fde4417573e980d9" providerId="LiveId" clId="{2606D64D-777B-42E0-9435-7F41CC0FB3D8}" dt="2025-08-24T23:40:10.797" v="308" actId="20577"/>
        <pc:sldMkLst>
          <pc:docMk/>
          <pc:sldMk cId="3768686499" sldId="2146846959"/>
        </pc:sldMkLst>
        <pc:spChg chg="mod">
          <ac:chgData name="Mike Pell" userId="fde4417573e980d9" providerId="LiveId" clId="{2606D64D-777B-42E0-9435-7F41CC0FB3D8}" dt="2025-08-24T23:40:10.797" v="308" actId="20577"/>
          <ac:spMkLst>
            <pc:docMk/>
            <pc:sldMk cId="3768686499" sldId="2146846959"/>
            <ac:spMk id="5" creationId="{1438D81C-5DFB-653B-3ADC-81B69FFF309A}"/>
          </ac:spMkLst>
        </pc:spChg>
        <pc:spChg chg="mod">
          <ac:chgData name="Mike Pell" userId="fde4417573e980d9" providerId="LiveId" clId="{2606D64D-777B-42E0-9435-7F41CC0FB3D8}" dt="2025-08-24T23:06:46.227" v="80" actId="6549"/>
          <ac:spMkLst>
            <pc:docMk/>
            <pc:sldMk cId="3768686499" sldId="2146846959"/>
            <ac:spMk id="6" creationId="{EAFD8417-E6ED-9652-6B3A-EEC6B65D9EBA}"/>
          </ac:spMkLst>
        </pc:spChg>
        <pc:spChg chg="mod">
          <ac:chgData name="Mike Pell" userId="fde4417573e980d9" providerId="LiveId" clId="{2606D64D-777B-42E0-9435-7F41CC0FB3D8}" dt="2025-08-24T23:06:52.083" v="81" actId="1076"/>
          <ac:spMkLst>
            <pc:docMk/>
            <pc:sldMk cId="3768686499" sldId="2146846959"/>
            <ac:spMk id="7" creationId="{E5545C83-C32D-2C08-6B95-594EA24CA860}"/>
          </ac:spMkLst>
        </pc:spChg>
        <pc:picChg chg="mod">
          <ac:chgData name="Mike Pell" userId="fde4417573e980d9" providerId="LiveId" clId="{2606D64D-777B-42E0-9435-7F41CC0FB3D8}" dt="2025-08-24T23:06:35.993" v="77" actId="1076"/>
          <ac:picMkLst>
            <pc:docMk/>
            <pc:sldMk cId="3768686499" sldId="2146846959"/>
            <ac:picMk id="4" creationId="{790D088A-DCE4-537F-4732-03124EA5A172}"/>
          </ac:picMkLst>
        </pc:picChg>
      </pc:sldChg>
    </pc:docChg>
  </pc:docChgLst>
  <pc:docChgLst>
    <pc:chgData name="Mike Pell" userId="fde4417573e980d9" providerId="LiveId" clId="{E7F70AC7-0A67-4B67-B19C-DB8611F5673D}"/>
    <pc:docChg chg="addSld modSld">
      <pc:chgData name="Mike Pell" userId="fde4417573e980d9" providerId="LiveId" clId="{E7F70AC7-0A67-4B67-B19C-DB8611F5673D}" dt="2025-08-03T00:24:27.333" v="7" actId="20577"/>
      <pc:docMkLst>
        <pc:docMk/>
      </pc:docMkLst>
      <pc:sldChg chg="modSp mod">
        <pc:chgData name="Mike Pell" userId="fde4417573e980d9" providerId="LiveId" clId="{E7F70AC7-0A67-4B67-B19C-DB8611F5673D}" dt="2025-08-03T00:24:27.333" v="7" actId="20577"/>
        <pc:sldMkLst>
          <pc:docMk/>
          <pc:sldMk cId="3909496707" sldId="257"/>
        </pc:sldMkLst>
        <pc:spChg chg="mod">
          <ac:chgData name="Mike Pell" userId="fde4417573e980d9" providerId="LiveId" clId="{E7F70AC7-0A67-4B67-B19C-DB8611F5673D}" dt="2025-08-03T00:24:27.333" v="7" actId="20577"/>
          <ac:spMkLst>
            <pc:docMk/>
            <pc:sldMk cId="3909496707" sldId="257"/>
            <ac:spMk id="6" creationId="{97BDD76C-2EC6-9F31-50A0-7B6DE4FD3140}"/>
          </ac:spMkLst>
        </pc:spChg>
      </pc:sldChg>
      <pc:sldChg chg="delSp modSp add mod setBg">
        <pc:chgData name="Mike Pell" userId="fde4417573e980d9" providerId="LiveId" clId="{E7F70AC7-0A67-4B67-B19C-DB8611F5673D}" dt="2025-08-03T00:05:39.535" v="5" actId="207"/>
        <pc:sldMkLst>
          <pc:docMk/>
          <pc:sldMk cId="0" sldId="265"/>
        </pc:sldMkLst>
        <pc:spChg chg="mod topLvl">
          <ac:chgData name="Mike Pell" userId="fde4417573e980d9" providerId="LiveId" clId="{E7F70AC7-0A67-4B67-B19C-DB8611F5673D}" dt="2025-08-03T00:05:23.667" v="4" actId="165"/>
          <ac:spMkLst>
            <pc:docMk/>
            <pc:sldMk cId="0" sldId="265"/>
            <ac:spMk id="7" creationId="{55D70B19-791B-6842-1790-D4822B9884BB}"/>
          </ac:spMkLst>
        </pc:spChg>
        <pc:spChg chg="mod topLvl">
          <ac:chgData name="Mike Pell" userId="fde4417573e980d9" providerId="LiveId" clId="{E7F70AC7-0A67-4B67-B19C-DB8611F5673D}" dt="2025-08-03T00:05:23.667" v="4" actId="165"/>
          <ac:spMkLst>
            <pc:docMk/>
            <pc:sldMk cId="0" sldId="265"/>
            <ac:spMk id="10" creationId="{07BD3F5A-AB2D-CA31-DDAC-BC0BCD788FF1}"/>
          </ac:spMkLst>
        </pc:spChg>
        <pc:spChg chg="mod">
          <ac:chgData name="Mike Pell" userId="fde4417573e980d9" providerId="LiveId" clId="{E7F70AC7-0A67-4B67-B19C-DB8611F5673D}" dt="2025-08-03T00:05:39.535" v="5" actId="207"/>
          <ac:spMkLst>
            <pc:docMk/>
            <pc:sldMk cId="0" sldId="265"/>
            <ac:spMk id="12" creationId="{CE0AB0C9-43B8-F51F-41F9-6304C33B0C5F}"/>
          </ac:spMkLst>
        </pc:spChg>
        <pc:spChg chg="mod">
          <ac:chgData name="Mike Pell" userId="fde4417573e980d9" providerId="LiveId" clId="{E7F70AC7-0A67-4B67-B19C-DB8611F5673D}" dt="2025-08-03T00:05:39.535" v="5" actId="207"/>
          <ac:spMkLst>
            <pc:docMk/>
            <pc:sldMk cId="0" sldId="265"/>
            <ac:spMk id="14" creationId="{8ADDC794-E0FC-2AA9-CE14-6493440927D7}"/>
          </ac:spMkLst>
        </pc:spChg>
        <pc:spChg chg="mod topLvl">
          <ac:chgData name="Mike Pell" userId="fde4417573e980d9" providerId="LiveId" clId="{E7F70AC7-0A67-4B67-B19C-DB8611F5673D}" dt="2025-08-03T00:05:23.667" v="4" actId="165"/>
          <ac:spMkLst>
            <pc:docMk/>
            <pc:sldMk cId="0" sldId="265"/>
            <ac:spMk id="21" creationId="{AE0C736D-EFFA-6732-44E2-14092F3A6485}"/>
          </ac:spMkLst>
        </pc:spChg>
        <pc:spChg chg="mod topLvl">
          <ac:chgData name="Mike Pell" userId="fde4417573e980d9" providerId="LiveId" clId="{E7F70AC7-0A67-4B67-B19C-DB8611F5673D}" dt="2025-08-03T00:05:39.535" v="5" actId="207"/>
          <ac:spMkLst>
            <pc:docMk/>
            <pc:sldMk cId="0" sldId="265"/>
            <ac:spMk id="22" creationId="{15072745-C6B7-8478-D3B7-7550A7BE45AF}"/>
          </ac:spMkLst>
        </pc:spChg>
      </pc:sldChg>
      <pc:sldChg chg="add setBg">
        <pc:chgData name="Mike Pell" userId="fde4417573e980d9" providerId="LiveId" clId="{E7F70AC7-0A67-4B67-B19C-DB8611F5673D}" dt="2025-08-02T23:58:34.856" v="1"/>
        <pc:sldMkLst>
          <pc:docMk/>
          <pc:sldMk cId="1316501715"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DA7E0-4630-4246-85CA-8816A1498B7A}" type="datetimeFigureOut">
              <a:rPr lang="en-US" smtClean="0"/>
              <a:t>8/24/2025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BFD932-03FA-4BBF-8BCC-D4D97BF1D847}" type="slidenum">
              <a:rPr lang="en-US" smtClean="0"/>
              <a:t>‹#›</a:t>
            </a:fld>
            <a:endParaRPr lang="en-US"/>
          </a:p>
        </p:txBody>
      </p:sp>
    </p:spTree>
    <p:extLst>
      <p:ext uri="{BB962C8B-B14F-4D97-AF65-F5344CB8AC3E}">
        <p14:creationId xmlns:p14="http://schemas.microsoft.com/office/powerpoint/2010/main" val="2312843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2016692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51E02-9DFA-D9DC-F89A-1BAFDD079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152A5-F241-88F1-8705-6AD55BFB4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1720B-4E76-1108-F1E7-6867A5333A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21108E-37ED-CC0F-B9FD-389566CBB68B}"/>
              </a:ext>
            </a:extLst>
          </p:cNvPr>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2907108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833517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A912-67AB-ED26-45C9-D809FA58CE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70556F-8383-43E1-E0CB-A372594F7F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B49663-64AE-628B-05F8-18F15F6610CB}"/>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5" name="Footer Placeholder 4">
            <a:extLst>
              <a:ext uri="{FF2B5EF4-FFF2-40B4-BE49-F238E27FC236}">
                <a16:creationId xmlns:a16="http://schemas.microsoft.com/office/drawing/2014/main" id="{E43575AF-1FD9-A85D-A34D-CCF826630E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25ADEA-0F0A-0C1C-D4AB-EAF5D549F07B}"/>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2687859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9E00-96A9-9FA9-B3A9-6C3B6E0795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9E5AA-FE16-98CD-ABA6-0119791D41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D1AC2-170E-8F55-5D38-F05BB1A45580}"/>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5" name="Footer Placeholder 4">
            <a:extLst>
              <a:ext uri="{FF2B5EF4-FFF2-40B4-BE49-F238E27FC236}">
                <a16:creationId xmlns:a16="http://schemas.microsoft.com/office/drawing/2014/main" id="{0B04BDD9-F1E8-499F-05B1-B01D4B28C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0EAAC1-3223-18EA-B9CA-E94472E53169}"/>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4076738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6DF47-3F4F-FCE4-C94C-AB645AD972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11A61B-92C8-A84F-A7EC-8F8D220CE4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1DA3F6-2F66-DF73-D8CE-77E88080F999}"/>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5" name="Footer Placeholder 4">
            <a:extLst>
              <a:ext uri="{FF2B5EF4-FFF2-40B4-BE49-F238E27FC236}">
                <a16:creationId xmlns:a16="http://schemas.microsoft.com/office/drawing/2014/main" id="{D3FCC70B-0ED6-0F64-254D-F49C49FAD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115B0E-BC04-4837-CE36-31892C3CAC96}"/>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1967979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5C882-3CCB-C5C3-C4BA-0C2C394060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511DE6-A92E-E2AD-BFBE-0C7824ABD4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AFF6E0-D615-0ADA-F01E-2F7278A4A5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FA0802-F7E3-23DF-42BD-2F11620368C6}"/>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6" name="Footer Placeholder 5">
            <a:extLst>
              <a:ext uri="{FF2B5EF4-FFF2-40B4-BE49-F238E27FC236}">
                <a16:creationId xmlns:a16="http://schemas.microsoft.com/office/drawing/2014/main" id="{B27171FF-493B-CC4B-F9F7-B2309074AD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1C36DC-57C7-E885-CFCB-5510E852FAA2}"/>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1239213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D719A-59F9-0901-56A5-60D9CBA56F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26FD5F-C16A-7734-977D-6C1AD275E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A7583A-4892-9F31-5386-0FAC2E7E86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0C6B77-7633-DAAD-A83E-71F19A09BA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D4FF40-3C24-9218-0223-852F5B65F5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B8449E-C193-D83E-570C-14060267E003}"/>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8" name="Footer Placeholder 7">
            <a:extLst>
              <a:ext uri="{FF2B5EF4-FFF2-40B4-BE49-F238E27FC236}">
                <a16:creationId xmlns:a16="http://schemas.microsoft.com/office/drawing/2014/main" id="{AE79573A-017B-E5AC-12B4-AC0C01AF22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842801-BFE3-52DC-0283-8E06BC20BD55}"/>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3030185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8311-6308-B50A-AB71-63046079D7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37D35D-63C8-15F9-4C5A-0CC24C4F6135}"/>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4" name="Footer Placeholder 3">
            <a:extLst>
              <a:ext uri="{FF2B5EF4-FFF2-40B4-BE49-F238E27FC236}">
                <a16:creationId xmlns:a16="http://schemas.microsoft.com/office/drawing/2014/main" id="{A9CBDE9B-2D85-5535-35FF-AFC6A8F31A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52C97B-58F9-560C-44D9-9EFA808AC5DC}"/>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777704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F74E8A-1C2E-CF7E-F682-6977C5976E54}"/>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3" name="Footer Placeholder 2">
            <a:extLst>
              <a:ext uri="{FF2B5EF4-FFF2-40B4-BE49-F238E27FC236}">
                <a16:creationId xmlns:a16="http://schemas.microsoft.com/office/drawing/2014/main" id="{A7B053F5-6842-6147-ACDB-7BF27980E7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25F8F3-F7D4-FE48-76C2-D236BCA921E7}"/>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2873102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ADCFF-7F9E-29DF-591C-5D40CBE3ED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91A94A-76C5-0C56-2A95-8FE76ABC19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651B27-3207-ED01-8361-02ED92C032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6C1BCA-AEF6-CAF9-7424-7E9A479533BE}"/>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6" name="Footer Placeholder 5">
            <a:extLst>
              <a:ext uri="{FF2B5EF4-FFF2-40B4-BE49-F238E27FC236}">
                <a16:creationId xmlns:a16="http://schemas.microsoft.com/office/drawing/2014/main" id="{29702C68-5A70-086C-0BBE-8FD38F20B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F04C65-92A3-428F-6AE6-7453A4D93EE5}"/>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3084383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98E0-84CA-2C80-4576-4665C0492B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49A8E7-EBC7-358D-733F-F6526AA0E5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20740F-30A0-D6D3-B7B4-0C71992319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E71FD1-1732-2014-1C69-1991F6C8FC70}"/>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6" name="Footer Placeholder 5">
            <a:extLst>
              <a:ext uri="{FF2B5EF4-FFF2-40B4-BE49-F238E27FC236}">
                <a16:creationId xmlns:a16="http://schemas.microsoft.com/office/drawing/2014/main" id="{CED27209-6EC0-6741-807B-6990FEEF03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AC55A-1E9C-83A5-A2FD-B6F82EBCC6FF}"/>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1468846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275BE-4AC3-E34E-1639-BE8E797910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1F4B6F-8CA4-9E36-B93D-F088636338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3B3C05-DD8B-67C9-A78C-3EC58F1B2A71}"/>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5" name="Footer Placeholder 4">
            <a:extLst>
              <a:ext uri="{FF2B5EF4-FFF2-40B4-BE49-F238E27FC236}">
                <a16:creationId xmlns:a16="http://schemas.microsoft.com/office/drawing/2014/main" id="{DBA511CA-DD49-CDA4-F1EC-304BA90286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1E0ADE-9400-95F0-EC54-EC38BE7DEC26}"/>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3983404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CFB1AA-FF89-4042-DE36-F1775D7442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D3B49-E050-8D47-3DC0-20AC38EEBD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AE6B6B-F51A-E7DE-A1C1-53A2438E6A17}"/>
              </a:ext>
            </a:extLst>
          </p:cNvPr>
          <p:cNvSpPr>
            <a:spLocks noGrp="1"/>
          </p:cNvSpPr>
          <p:nvPr>
            <p:ph type="dt" sz="half" idx="10"/>
          </p:nvPr>
        </p:nvSpPr>
        <p:spPr/>
        <p:txBody>
          <a:bodyPr/>
          <a:lstStyle/>
          <a:p>
            <a:fld id="{5364AC0E-3051-4B8D-A258-E611D6A8D793}" type="datetimeFigureOut">
              <a:rPr lang="en-US" smtClean="0"/>
              <a:t>8/24/2025</a:t>
            </a:fld>
            <a:endParaRPr lang="en-US"/>
          </a:p>
        </p:txBody>
      </p:sp>
      <p:sp>
        <p:nvSpPr>
          <p:cNvPr id="5" name="Footer Placeholder 4">
            <a:extLst>
              <a:ext uri="{FF2B5EF4-FFF2-40B4-BE49-F238E27FC236}">
                <a16:creationId xmlns:a16="http://schemas.microsoft.com/office/drawing/2014/main" id="{3E3A9E5C-AE38-0AB6-4476-63222A370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05D27-3B44-275E-BF68-8DA4FD8DAA3B}"/>
              </a:ext>
            </a:extLst>
          </p:cNvPr>
          <p:cNvSpPr>
            <a:spLocks noGrp="1"/>
          </p:cNvSpPr>
          <p:nvPr>
            <p:ph type="sldNum" sz="quarter" idx="12"/>
          </p:nvPr>
        </p:nvSpPr>
        <p:spPr/>
        <p:txBody>
          <a:bodyPr/>
          <a:lstStyle/>
          <a:p>
            <a:fld id="{42B136AE-805A-41A4-B9D1-14A7B03C2DE4}" type="slidenum">
              <a:rPr lang="en-US" smtClean="0"/>
              <a:t>‹#›</a:t>
            </a:fld>
            <a:endParaRPr lang="en-US"/>
          </a:p>
        </p:txBody>
      </p:sp>
    </p:spTree>
    <p:extLst>
      <p:ext uri="{BB962C8B-B14F-4D97-AF65-F5344CB8AC3E}">
        <p14:creationId xmlns:p14="http://schemas.microsoft.com/office/powerpoint/2010/main" val="2282317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EB09B49-C532-0F0B-3A01-82099271D39E}"/>
              </a:ext>
            </a:extLst>
          </p:cNvPr>
          <p:cNvSpPr txBox="1">
            <a:spLocks/>
          </p:cNvSpPr>
          <p:nvPr userDrawn="1"/>
        </p:nvSpPr>
        <p:spPr>
          <a:xfrm>
            <a:off x="2977964" y="6558613"/>
            <a:ext cx="6236072" cy="246221"/>
          </a:xfrm>
          <a:prstGeom prst="rect">
            <a:avLst/>
          </a:prstGeom>
          <a:noFill/>
        </p:spPr>
        <p:txBody>
          <a:bodyPr wrap="square">
            <a:spAutoFit/>
          </a:bodyPr>
          <a:lstStyle/>
          <a:p>
            <a:pPr algn="ctr"/>
            <a:r>
              <a:rPr lang="en-US" sz="1000" b="1" i="0" u="none" strike="noStrike" baseline="0" dirty="0">
                <a:solidFill>
                  <a:srgbClr val="C00000"/>
                </a:solidFill>
                <a:latin typeface="Segoe UI" panose="020B0502040204020203" pitchFamily="34" charset="0"/>
                <a:cs typeface="Segoe UI" panose="020B0502040204020203" pitchFamily="34" charset="0"/>
              </a:rPr>
              <a:t>CONFIDENTIAL AND PROPRIETARY  </a:t>
            </a:r>
            <a:r>
              <a:rPr lang="en-US" sz="1000" b="0" i="0" u="none" strike="noStrike" baseline="0" dirty="0">
                <a:solidFill>
                  <a:schemeClr val="bg1">
                    <a:lumMod val="75000"/>
                  </a:schemeClr>
                </a:solidFill>
                <a:latin typeface="Segoe UI Semilight" panose="020B0402040204020203" pitchFamily="34" charset="0"/>
                <a:cs typeface="Segoe UI Semilight" panose="020B0402040204020203" pitchFamily="34" charset="0"/>
              </a:rPr>
              <a:t>Copyright © 2025 Envisioner, Inc.  </a:t>
            </a:r>
            <a:r>
              <a:rPr lang="en-US" sz="1000" dirty="0">
                <a:solidFill>
                  <a:schemeClr val="bg1">
                    <a:lumMod val="75000"/>
                  </a:schemeClr>
                </a:solidFill>
                <a:latin typeface="Segoe UI Semilight" panose="020B0402040204020203" pitchFamily="34" charset="0"/>
                <a:cs typeface="Segoe UI Semilight" panose="020B0402040204020203" pitchFamily="34" charset="0"/>
              </a:rPr>
              <a:t>All rights reserved.</a:t>
            </a:r>
          </a:p>
        </p:txBody>
      </p:sp>
    </p:spTree>
    <p:extLst>
      <p:ext uri="{BB962C8B-B14F-4D97-AF65-F5344CB8AC3E}">
        <p14:creationId xmlns:p14="http://schemas.microsoft.com/office/powerpoint/2010/main" val="167427755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49DCF1-9386-22D2-1DDB-0176A966F7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1683EE-39F1-0380-0B2D-BAC7F94A2B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640B5-A85B-B0FF-D2E2-84D32F34D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64AC0E-3051-4B8D-A258-E611D6A8D793}" type="datetimeFigureOut">
              <a:rPr lang="en-US" smtClean="0"/>
              <a:t>8/24/2025</a:t>
            </a:fld>
            <a:endParaRPr lang="en-US"/>
          </a:p>
        </p:txBody>
      </p:sp>
      <p:sp>
        <p:nvSpPr>
          <p:cNvPr id="5" name="Footer Placeholder 4">
            <a:extLst>
              <a:ext uri="{FF2B5EF4-FFF2-40B4-BE49-F238E27FC236}">
                <a16:creationId xmlns:a16="http://schemas.microsoft.com/office/drawing/2014/main" id="{D04D4899-1ECE-A592-3D19-A229F8B50E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613ACC-97EF-7CDB-36F3-CD6FD318CD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B136AE-805A-41A4-B9D1-14A7B03C2DE4}" type="slidenum">
              <a:rPr lang="en-US" smtClean="0"/>
              <a:t>‹#›</a:t>
            </a:fld>
            <a:endParaRPr lang="en-US"/>
          </a:p>
        </p:txBody>
      </p:sp>
    </p:spTree>
    <p:extLst>
      <p:ext uri="{BB962C8B-B14F-4D97-AF65-F5344CB8AC3E}">
        <p14:creationId xmlns:p14="http://schemas.microsoft.com/office/powerpoint/2010/main" val="1109984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pell@envsioner.ai"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38D81C-5DFB-653B-3ADC-81B69FFF309A}"/>
              </a:ext>
            </a:extLst>
          </p:cNvPr>
          <p:cNvSpPr txBox="1"/>
          <p:nvPr/>
        </p:nvSpPr>
        <p:spPr>
          <a:xfrm>
            <a:off x="2678502" y="342900"/>
            <a:ext cx="8912734" cy="5620578"/>
          </a:xfrm>
          <a:prstGeom prst="rect">
            <a:avLst/>
          </a:prstGeom>
          <a:noFill/>
        </p:spPr>
        <p:txBody>
          <a:bodyPr wrap="square" lIns="91440" tIns="45720" rIns="91440" bIns="45720" numCol="3" spcCol="457200" anchor="t">
            <a:normAutofit fontScale="92500" lnSpcReduction="10000"/>
          </a:bodyPr>
          <a:lstStyle/>
          <a:p>
            <a:r>
              <a:rPr lang="en-US" sz="1600" b="1" dirty="0">
                <a:solidFill>
                  <a:srgbClr val="FFC000"/>
                </a:solidFill>
                <a:latin typeface="Calibri" panose="020F0502020204030204" pitchFamily="34" charset="0"/>
              </a:rPr>
              <a:t>MISSION</a:t>
            </a:r>
            <a:r>
              <a:rPr lang="en-US" sz="1600" b="1" i="0" u="none" strike="noStrike" baseline="0" dirty="0">
                <a:solidFill>
                  <a:srgbClr val="FFC000"/>
                </a:solidFill>
                <a:latin typeface="Calibri" panose="020F0502020204030204" pitchFamily="34" charset="0"/>
              </a:rPr>
              <a:t> </a:t>
            </a:r>
            <a:endParaRPr lang="en-US" sz="1600" b="0" i="0" u="none" strike="noStrike" baseline="0" dirty="0">
              <a:solidFill>
                <a:srgbClr val="FFC000"/>
              </a:solidFill>
              <a:latin typeface="Calibri" panose="020F0502020204030204" pitchFamily="34" charset="0"/>
            </a:endParaRPr>
          </a:p>
          <a:p>
            <a:r>
              <a:rPr lang="en-US" sz="1200" b="1" i="0" u="none" strike="noStrike" baseline="0" dirty="0">
                <a:solidFill>
                  <a:schemeClr val="bg1"/>
                </a:solidFill>
                <a:latin typeface="Calibri" panose="020F0502020204030204" pitchFamily="34" charset="0"/>
              </a:rPr>
              <a:t>Envisioner</a:t>
            </a:r>
            <a:r>
              <a:rPr lang="en-US" sz="1200" b="1" dirty="0">
                <a:solidFill>
                  <a:schemeClr val="bg1"/>
                </a:solidFill>
                <a:latin typeface="Calibri" panose="020F0502020204030204" pitchFamily="34" charset="0"/>
              </a:rPr>
              <a:t>, Inc.</a:t>
            </a:r>
            <a:r>
              <a:rPr lang="en-US" sz="1200" b="1" i="0" u="none" strike="noStrike" baseline="0" dirty="0">
                <a:solidFill>
                  <a:schemeClr val="bg1"/>
                </a:solidFill>
                <a:latin typeface="Calibri" panose="020F0502020204030204" pitchFamily="34" charset="0"/>
              </a:rPr>
              <a:t> </a:t>
            </a:r>
            <a:r>
              <a:rPr lang="en-US" sz="1200" i="0" u="none" strike="noStrike" baseline="0" dirty="0">
                <a:solidFill>
                  <a:schemeClr val="bg1"/>
                </a:solidFill>
                <a:latin typeface="Calibri" panose="020F0502020204030204" pitchFamily="34" charset="0"/>
              </a:rPr>
              <a:t>delivers</a:t>
            </a:r>
            <a:r>
              <a:rPr lang="en-US" sz="1200" b="1" i="0" u="none" strike="noStrike" baseline="0" dirty="0">
                <a:solidFill>
                  <a:schemeClr val="bg1"/>
                </a:solidFill>
                <a:latin typeface="Calibri" panose="020F0502020204030204" pitchFamily="34" charset="0"/>
              </a:rPr>
              <a:t> </a:t>
            </a:r>
            <a:r>
              <a:rPr lang="en-US" sz="1200" b="0" i="0" u="none" strike="noStrike" baseline="0" dirty="0">
                <a:solidFill>
                  <a:schemeClr val="bg1"/>
                </a:solidFill>
                <a:latin typeface="Calibri" panose="020F0502020204030204" pitchFamily="34" charset="0"/>
              </a:rPr>
              <a:t>breakthrough business simulation capabilities that will enable anyone to see, interactively explore, and quickly understand the highly dynamic and ever-changing nature of global business, enabling better decisions, faster. </a:t>
            </a:r>
          </a:p>
          <a:p>
            <a:endParaRPr lang="en-US" sz="1200" b="0" i="0" u="none" strike="noStrike" baseline="0" dirty="0">
              <a:solidFill>
                <a:schemeClr val="bg1"/>
              </a:solidFill>
              <a:latin typeface="Calibri" panose="020F0502020204030204" pitchFamily="34" charset="0"/>
            </a:endParaRPr>
          </a:p>
          <a:p>
            <a:r>
              <a:rPr lang="en-US" sz="1600" b="1" i="0" u="none" strike="noStrike" baseline="0" dirty="0">
                <a:solidFill>
                  <a:srgbClr val="FFC000"/>
                </a:solidFill>
                <a:latin typeface="Calibri" panose="020F0502020204030204" pitchFamily="34" charset="0"/>
              </a:rPr>
              <a:t>TAGLINE </a:t>
            </a:r>
            <a:endParaRPr lang="en-US" sz="1600" b="0" i="0" u="none" strike="noStrike" baseline="0" dirty="0">
              <a:solidFill>
                <a:srgbClr val="FFC000"/>
              </a:solidFill>
              <a:latin typeface="Calibri" panose="020F0502020204030204" pitchFamily="34" charset="0"/>
            </a:endParaRPr>
          </a:p>
          <a:p>
            <a:r>
              <a:rPr lang="en-US" sz="1200" b="0" i="0" u="none" strike="noStrike" baseline="0" dirty="0">
                <a:solidFill>
                  <a:schemeClr val="bg1"/>
                </a:solidFill>
                <a:latin typeface="Calibri" panose="020F0502020204030204" pitchFamily="34" charset="0"/>
              </a:rPr>
              <a:t>“AI is a Time Machine for Business.” </a:t>
            </a:r>
          </a:p>
          <a:p>
            <a:endParaRPr lang="en-US" sz="1200" b="0" i="0" u="none" strike="noStrike" baseline="0" dirty="0">
              <a:solidFill>
                <a:schemeClr val="bg1"/>
              </a:solidFill>
              <a:latin typeface="Calibri" panose="020F0502020204030204" pitchFamily="34" charset="0"/>
            </a:endParaRPr>
          </a:p>
          <a:p>
            <a:r>
              <a:rPr lang="en-US" sz="1600" b="1" i="0" u="none" strike="noStrike" baseline="0" dirty="0">
                <a:solidFill>
                  <a:srgbClr val="FFC000"/>
                </a:solidFill>
                <a:latin typeface="Calibri" panose="020F0502020204030204" pitchFamily="34" charset="0"/>
              </a:rPr>
              <a:t>PRODUCTS </a:t>
            </a:r>
            <a:endParaRPr lang="en-US" sz="1600" b="0" i="0" u="none" strike="noStrike" baseline="0" dirty="0">
              <a:solidFill>
                <a:srgbClr val="FFC000"/>
              </a:solidFill>
              <a:latin typeface="Calibri" panose="020F0502020204030204" pitchFamily="34" charset="0"/>
            </a:endParaRPr>
          </a:p>
          <a:p>
            <a:r>
              <a:rPr lang="en-US" sz="1200" b="0" i="0" u="none" strike="noStrike" baseline="0" dirty="0">
                <a:solidFill>
                  <a:schemeClr val="bg1"/>
                </a:solidFill>
                <a:latin typeface="Calibri" panose="020F0502020204030204" pitchFamily="34" charset="0"/>
              </a:rPr>
              <a:t>AI-powered suite of next-gen biz simulation</a:t>
            </a:r>
          </a:p>
          <a:p>
            <a:endParaRPr lang="en-US" sz="1200" b="0" i="0" u="none" strike="noStrike" baseline="0" dirty="0">
              <a:solidFill>
                <a:schemeClr val="bg1"/>
              </a:solidFill>
              <a:latin typeface="Calibri" panose="020F0502020204030204" pitchFamily="34" charset="0"/>
            </a:endParaRPr>
          </a:p>
          <a:p>
            <a:r>
              <a:rPr lang="en-US" sz="1600" b="1" i="0" u="none" strike="noStrike" baseline="0" dirty="0">
                <a:solidFill>
                  <a:srgbClr val="FFC000"/>
                </a:solidFill>
                <a:latin typeface="Calibri" panose="020F0502020204030204" pitchFamily="34" charset="0"/>
              </a:rPr>
              <a:t>TECHNOLOGY </a:t>
            </a:r>
            <a:endParaRPr lang="en-US" sz="1600" b="0" i="0" u="none" strike="noStrike" baseline="0" dirty="0">
              <a:solidFill>
                <a:srgbClr val="FFC000"/>
              </a:solidFill>
              <a:latin typeface="Calibri" panose="020F0502020204030204" pitchFamily="34" charset="0"/>
            </a:endParaRPr>
          </a:p>
          <a:p>
            <a:r>
              <a:rPr lang="en-US" sz="1200" b="0" i="0" u="none" strike="noStrike" baseline="0" dirty="0">
                <a:solidFill>
                  <a:schemeClr val="bg1"/>
                </a:solidFill>
                <a:latin typeface="Calibri" panose="020F0502020204030204" pitchFamily="34" charset="0"/>
              </a:rPr>
              <a:t>By combining Artificial Intelligence, Dat</a:t>
            </a:r>
            <a:r>
              <a:rPr lang="en-US" sz="1200" dirty="0">
                <a:solidFill>
                  <a:schemeClr val="bg1"/>
                </a:solidFill>
                <a:latin typeface="Calibri" panose="020F0502020204030204" pitchFamily="34" charset="0"/>
              </a:rPr>
              <a:t>a, </a:t>
            </a:r>
            <a:r>
              <a:rPr lang="en-US" sz="1200" b="0" i="0" u="none" strike="noStrike" baseline="0" dirty="0">
                <a:solidFill>
                  <a:schemeClr val="bg1"/>
                </a:solidFill>
                <a:latin typeface="Calibri" panose="020F0502020204030204" pitchFamily="34" charset="0"/>
              </a:rPr>
              <a:t> Simulation, Visualization, and Spatial tech into what can be described as a “4D spreadsheet”, we can finally see and deeply understand what’s truly happening in businesses, interactively through simulation. The real technology breakthrough is the ability to manipulate time itself - by rewinding through historical datasets or quickly fast forwarding into the future via simulation, we now have the ability to play what</a:t>
            </a:r>
            <a:r>
              <a:rPr lang="en-US" sz="1200" dirty="0">
                <a:solidFill>
                  <a:schemeClr val="bg1"/>
                </a:solidFill>
                <a:latin typeface="Calibri" panose="020F0502020204030204" pitchFamily="34" charset="0"/>
              </a:rPr>
              <a:t>-if before spending $.</a:t>
            </a:r>
            <a:endParaRPr lang="en-US" sz="1200" b="0" i="0" u="none" strike="noStrike" baseline="0" dirty="0">
              <a:solidFill>
                <a:schemeClr val="bg1"/>
              </a:solidFill>
              <a:latin typeface="Calibri" panose="020F0502020204030204" pitchFamily="34" charset="0"/>
            </a:endParaRPr>
          </a:p>
          <a:p>
            <a:endParaRPr lang="en-US" sz="1200" dirty="0">
              <a:solidFill>
                <a:schemeClr val="bg1"/>
              </a:solidFill>
              <a:latin typeface="Calibri" panose="020F0502020204030204" pitchFamily="34" charset="0"/>
            </a:endParaRPr>
          </a:p>
          <a:p>
            <a:r>
              <a:rPr lang="en-US" sz="1600" b="1" i="0" u="none" strike="noStrike" baseline="0" dirty="0">
                <a:solidFill>
                  <a:srgbClr val="FFC000"/>
                </a:solidFill>
                <a:latin typeface="Calibri" panose="020F0502020204030204" pitchFamily="34" charset="0"/>
              </a:rPr>
              <a:t>MARKET</a:t>
            </a:r>
            <a:endParaRPr lang="en-US" sz="1600" b="0" i="0" u="none" strike="noStrike" baseline="0" dirty="0">
              <a:solidFill>
                <a:srgbClr val="FFC000"/>
              </a:solidFill>
              <a:latin typeface="Calibri" panose="020F0502020204030204" pitchFamily="34" charset="0"/>
            </a:endParaRPr>
          </a:p>
          <a:p>
            <a:r>
              <a:rPr lang="en-US" sz="1200" b="0" i="0" u="none" strike="noStrike" baseline="0" dirty="0">
                <a:solidFill>
                  <a:schemeClr val="bg1"/>
                </a:solidFill>
                <a:latin typeface="Calibri" panose="020F0502020204030204" pitchFamily="34" charset="0"/>
              </a:rPr>
              <a:t>Same as Microsoft 365 (Office). The global market for business analytics software is currently $70B annually. This offering targets a subset of that focused on financials, analysis and presentation, much like Excel and PowerPoint, with additional capabilities in visualization packages. </a:t>
            </a:r>
          </a:p>
          <a:p>
            <a:endParaRPr lang="en-US" sz="1200" b="0" i="0" u="none" strike="noStrike" baseline="0" dirty="0">
              <a:solidFill>
                <a:schemeClr val="bg1"/>
              </a:solidFill>
              <a:latin typeface="Calibri" panose="020F0502020204030204" pitchFamily="34" charset="0"/>
            </a:endParaRPr>
          </a:p>
          <a:p>
            <a:r>
              <a:rPr lang="en-US" sz="1600" b="1" dirty="0">
                <a:solidFill>
                  <a:srgbClr val="FFC000"/>
                </a:solidFill>
                <a:latin typeface="Calibri" panose="020F0502020204030204" pitchFamily="34" charset="0"/>
              </a:rPr>
              <a:t>BUSINESS MODEL</a:t>
            </a:r>
          </a:p>
          <a:p>
            <a:r>
              <a:rPr lang="en-US" sz="1200" b="0" i="0" u="none" strike="noStrike" baseline="0" dirty="0">
                <a:solidFill>
                  <a:schemeClr val="bg1"/>
                </a:solidFill>
                <a:latin typeface="Calibri" panose="020F0502020204030204" pitchFamily="34" charset="0"/>
              </a:rPr>
              <a:t>AI service business model, cloud-hosted, with demand fueled by delivering a missing part of global business – the ability for anyone to finally </a:t>
            </a:r>
            <a:r>
              <a:rPr lang="en-US" sz="1200" dirty="0">
                <a:solidFill>
                  <a:schemeClr val="bg1"/>
                </a:solidFill>
                <a:latin typeface="Calibri" panose="020F0502020204030204" pitchFamily="34" charset="0"/>
              </a:rPr>
              <a:t> see and deeply understand their business through conversation and a highly </a:t>
            </a:r>
            <a:r>
              <a:rPr lang="en-US" sz="1200" b="0" i="0" u="none" strike="noStrike" baseline="0" dirty="0">
                <a:solidFill>
                  <a:schemeClr val="bg1"/>
                </a:solidFill>
                <a:latin typeface="Calibri" panose="020F0502020204030204" pitchFamily="34" charset="0"/>
              </a:rPr>
              <a:t>visual representation.  Direct UI, API, MCP</a:t>
            </a:r>
          </a:p>
          <a:p>
            <a:endParaRPr lang="en-US" sz="1200" b="0" i="0" u="none" strike="noStrike" baseline="0" dirty="0">
              <a:solidFill>
                <a:schemeClr val="bg1"/>
              </a:solidFill>
              <a:latin typeface="Calibri" panose="020F0502020204030204" pitchFamily="34" charset="0"/>
            </a:endParaRPr>
          </a:p>
          <a:p>
            <a:r>
              <a:rPr lang="en-US" sz="1600" b="1" i="0" u="none" strike="noStrike" baseline="0" dirty="0">
                <a:solidFill>
                  <a:srgbClr val="FFC000"/>
                </a:solidFill>
                <a:latin typeface="Calibri" panose="020F0502020204030204" pitchFamily="34" charset="0"/>
              </a:rPr>
              <a:t>INTELLECTUAL PROPERTY</a:t>
            </a:r>
            <a:endParaRPr lang="en-US" sz="1600" b="0" i="0" u="none" strike="noStrike" baseline="0" dirty="0">
              <a:solidFill>
                <a:srgbClr val="FFC000"/>
              </a:solidFill>
              <a:latin typeface="Calibri" panose="020F0502020204030204" pitchFamily="34" charset="0"/>
            </a:endParaRPr>
          </a:p>
          <a:p>
            <a:r>
              <a:rPr lang="en-US" sz="1200" dirty="0">
                <a:solidFill>
                  <a:schemeClr val="bg1"/>
                </a:solidFill>
                <a:latin typeface="Calibri" panose="020F0502020204030204" pitchFamily="34" charset="0"/>
              </a:rPr>
              <a:t>Two patents on the core inventions are already filed. The intellectual property covered within this portfolio represents a significant technological leap, estimated to be approximately 5-10 years ahead of current industry offerings. </a:t>
            </a:r>
            <a:r>
              <a:rPr lang="en-US" sz="1200" b="0" i="0" u="none" strike="noStrike" baseline="0" dirty="0">
                <a:solidFill>
                  <a:schemeClr val="bg1"/>
                </a:solidFill>
                <a:latin typeface="Calibri" panose="020F0502020204030204" pitchFamily="34" charset="0"/>
              </a:rPr>
              <a:t>The patent portfolio will include a wide range of innovative and proprietary approaches and technologies, each meticulously documented and deemed eligible for patent protection during initial consultation with IP attorneys of record. Detailed documentation will ensure each advancement is comprehensively protected. </a:t>
            </a:r>
          </a:p>
          <a:p>
            <a:endParaRPr lang="en-US" sz="1600" b="1" i="0" u="none" strike="noStrike" baseline="0" dirty="0">
              <a:solidFill>
                <a:schemeClr val="bg1"/>
              </a:solidFill>
              <a:latin typeface="Calibri" panose="020F0502020204030204" pitchFamily="34" charset="0"/>
            </a:endParaRPr>
          </a:p>
          <a:p>
            <a:r>
              <a:rPr lang="en-US" sz="1600" b="1" i="0" u="none" strike="noStrike" baseline="0" dirty="0">
                <a:solidFill>
                  <a:srgbClr val="FFC000"/>
                </a:solidFill>
                <a:latin typeface="Calibri" panose="020F0502020204030204" pitchFamily="34" charset="0"/>
              </a:rPr>
              <a:t>COMPETITION </a:t>
            </a:r>
            <a:endParaRPr lang="en-US" sz="1600" b="0" i="0" u="none" strike="noStrike" baseline="0" dirty="0">
              <a:solidFill>
                <a:srgbClr val="FFC000"/>
              </a:solidFill>
              <a:latin typeface="Calibri" panose="020F0502020204030204" pitchFamily="34" charset="0"/>
            </a:endParaRPr>
          </a:p>
          <a:p>
            <a:r>
              <a:rPr lang="en-US" sz="1200" b="0" i="0" u="none" strike="noStrike" baseline="0" dirty="0">
                <a:solidFill>
                  <a:schemeClr val="bg1"/>
                </a:solidFill>
                <a:latin typeface="Calibri" panose="020F0502020204030204" pitchFamily="34" charset="0"/>
              </a:rPr>
              <a:t>This is a globally disruptive offering that will extend the capabilities of Microsoft Office by a decade. Our competition is the way things have always been done for decades and decades – people using Microsoft Excel, PowerPoint, and other manual and expensive methods, which fall short of even the base capabilities of this product. </a:t>
            </a:r>
          </a:p>
          <a:p>
            <a:endParaRPr lang="en-US" sz="1200" b="0" i="0" u="none" strike="noStrike" baseline="0" dirty="0">
              <a:solidFill>
                <a:schemeClr val="bg1"/>
              </a:solidFill>
              <a:latin typeface="Calibri" panose="020F0502020204030204" pitchFamily="34" charset="0"/>
            </a:endParaRPr>
          </a:p>
          <a:p>
            <a:r>
              <a:rPr lang="en-US" sz="1600" b="1" dirty="0">
                <a:solidFill>
                  <a:srgbClr val="FFC000"/>
                </a:solidFill>
                <a:latin typeface="Calibri" panose="020F0502020204030204" pitchFamily="34" charset="0"/>
              </a:rPr>
              <a:t>UNFAIR ADVANTAGES</a:t>
            </a:r>
            <a:endParaRPr lang="en-US" sz="1600" b="0" i="0" u="none" strike="noStrike" baseline="0" dirty="0">
              <a:solidFill>
                <a:srgbClr val="FFC000"/>
              </a:solidFill>
              <a:latin typeface="Calibri" panose="020F0502020204030204" pitchFamily="34" charset="0"/>
            </a:endParaRPr>
          </a:p>
          <a:p>
            <a:pPr marL="171450" indent="-171450">
              <a:buFont typeface="Arial" panose="020B0604020202020204" pitchFamily="34" charset="0"/>
              <a:buChar char="•"/>
            </a:pPr>
            <a:r>
              <a:rPr lang="en-US" sz="1200" dirty="0">
                <a:solidFill>
                  <a:schemeClr val="bg1"/>
                </a:solidFill>
                <a:latin typeface="Calibri" panose="020F0502020204030204" pitchFamily="34" charset="0"/>
              </a:rPr>
              <a:t>Deep partnership with Microsoft</a:t>
            </a:r>
          </a:p>
          <a:p>
            <a:pPr marL="171450" indent="-171450">
              <a:buFont typeface="Arial" panose="020B0604020202020204" pitchFamily="34" charset="0"/>
              <a:buChar char="•"/>
            </a:pPr>
            <a:r>
              <a:rPr lang="en-US" sz="1200" b="0" i="0" u="none" strike="noStrike" baseline="0" dirty="0">
                <a:solidFill>
                  <a:schemeClr val="bg1"/>
                </a:solidFill>
                <a:latin typeface="Calibri" panose="020F0502020204030204" pitchFamily="34" charset="0"/>
              </a:rPr>
              <a:t>Disruptive transformation will be viewed similarly to ChatGPT when first introduced </a:t>
            </a:r>
          </a:p>
          <a:p>
            <a:pPr marL="171450" indent="-171450">
              <a:buFont typeface="Arial" panose="020B0604020202020204" pitchFamily="34" charset="0"/>
              <a:buChar char="•"/>
            </a:pPr>
            <a:r>
              <a:rPr lang="en-US" sz="1200" b="0" i="0" u="none" strike="noStrike" baseline="0" dirty="0">
                <a:solidFill>
                  <a:schemeClr val="bg1"/>
                </a:solidFill>
                <a:latin typeface="Calibri" panose="020F0502020204030204" pitchFamily="34" charset="0"/>
              </a:rPr>
              <a:t>The patented, unique, breakthrough approaches to process and technology will be a clear competitive advantage </a:t>
            </a:r>
          </a:p>
          <a:p>
            <a:pPr marL="171450" indent="-171450">
              <a:buFont typeface="Arial" panose="020B0604020202020204" pitchFamily="34" charset="0"/>
              <a:buChar char="•"/>
            </a:pPr>
            <a:r>
              <a:rPr lang="en-US" sz="1200" b="0" i="0" u="none" strike="noStrike" baseline="0" dirty="0">
                <a:solidFill>
                  <a:schemeClr val="bg1"/>
                </a:solidFill>
                <a:latin typeface="Calibri" panose="020F0502020204030204" pitchFamily="34" charset="0"/>
              </a:rPr>
              <a:t>Key industry advisors are highly successful veterans from JPMorgan, Nvidia, Ferrari</a:t>
            </a:r>
          </a:p>
          <a:p>
            <a:pPr marL="171450" indent="-171450">
              <a:buFont typeface="Arial" panose="020B0604020202020204" pitchFamily="34" charset="0"/>
              <a:buChar char="•"/>
            </a:pPr>
            <a:r>
              <a:rPr lang="en-US" sz="1200" b="0" i="0" u="none" strike="noStrike" baseline="0" dirty="0">
                <a:solidFill>
                  <a:schemeClr val="bg1"/>
                </a:solidFill>
                <a:latin typeface="Calibri"/>
                <a:ea typeface="Calibri"/>
                <a:cs typeface="Calibri"/>
              </a:rPr>
              <a:t>Early F</a:t>
            </a:r>
            <a:r>
              <a:rPr lang="en-US" sz="1200" dirty="0">
                <a:solidFill>
                  <a:schemeClr val="bg1"/>
                </a:solidFill>
                <a:latin typeface="Calibri"/>
                <a:ea typeface="Calibri"/>
                <a:cs typeface="Calibri"/>
              </a:rPr>
              <a:t>ortune 50 customers inform the focus for maximum impact</a:t>
            </a:r>
            <a:endParaRPr lang="en-US" sz="1200" b="0" i="0" u="none" strike="noStrike" baseline="0" dirty="0">
              <a:solidFill>
                <a:schemeClr val="bg1"/>
              </a:solidFill>
              <a:latin typeface="Calibri"/>
              <a:ea typeface="Calibri"/>
              <a:cs typeface="Calibri"/>
            </a:endParaRPr>
          </a:p>
          <a:p>
            <a:endParaRPr lang="en-US" sz="1200" b="0" i="0" u="none" strike="noStrike" baseline="0" dirty="0">
              <a:solidFill>
                <a:schemeClr val="bg1"/>
              </a:solidFill>
              <a:latin typeface="Calibri" panose="020F0502020204030204" pitchFamily="34" charset="0"/>
            </a:endParaRPr>
          </a:p>
          <a:p>
            <a:r>
              <a:rPr lang="en-US" sz="1600" b="1" i="0" u="none" strike="noStrike" baseline="0" dirty="0">
                <a:solidFill>
                  <a:srgbClr val="FFC000"/>
                </a:solidFill>
                <a:latin typeface="Calibri" panose="020F0502020204030204" pitchFamily="34" charset="0"/>
              </a:rPr>
              <a:t>FOUNDER </a:t>
            </a:r>
          </a:p>
          <a:p>
            <a:r>
              <a:rPr lang="en-US" sz="1200" b="1" i="0" u="none" strike="noStrike" baseline="0" dirty="0">
                <a:solidFill>
                  <a:schemeClr val="bg1"/>
                </a:solidFill>
                <a:latin typeface="Calibri" panose="020F0502020204030204" pitchFamily="34" charset="0"/>
              </a:rPr>
              <a:t>Mike Pell </a:t>
            </a:r>
            <a:r>
              <a:rPr lang="en-US" sz="1200" b="0" i="0" u="none" strike="noStrike" baseline="0" dirty="0">
                <a:solidFill>
                  <a:schemeClr val="bg1"/>
                </a:solidFill>
                <a:latin typeface="Calibri" panose="020F0502020204030204" pitchFamily="34" charset="0"/>
              </a:rPr>
              <a:t>is widely recognized as a world-class Designer and industry thought leader for Innovation, Visualization, </a:t>
            </a:r>
            <a:r>
              <a:rPr lang="en-US" sz="1200" dirty="0">
                <a:solidFill>
                  <a:schemeClr val="bg1"/>
                </a:solidFill>
                <a:latin typeface="Calibri" panose="020F0502020204030204" pitchFamily="34" charset="0"/>
              </a:rPr>
              <a:t>3D, </a:t>
            </a:r>
            <a:r>
              <a:rPr lang="en-US" sz="1200" b="0" i="0" u="none" strike="noStrike" baseline="0" dirty="0">
                <a:solidFill>
                  <a:schemeClr val="bg1"/>
                </a:solidFill>
                <a:latin typeface="Calibri" panose="020F0502020204030204" pitchFamily="34" charset="0"/>
              </a:rPr>
              <a:t>AI + Data. Pell invented Adobe PDF, the Apple stylized Font menu, and pioneered early Metaverse work in 90’s</a:t>
            </a:r>
            <a:r>
              <a:rPr lang="en-US" sz="1200" dirty="0">
                <a:solidFill>
                  <a:schemeClr val="bg1"/>
                </a:solidFill>
                <a:latin typeface="Calibri" panose="020F0502020204030204" pitchFamily="34" charset="0"/>
              </a:rPr>
              <a:t>. Bold, insightful, and uncompromising, Pell c</a:t>
            </a:r>
            <a:r>
              <a:rPr lang="en-US" sz="1200" b="0" i="0" u="none" strike="noStrike" baseline="0" dirty="0">
                <a:solidFill>
                  <a:schemeClr val="bg1"/>
                </a:solidFill>
                <a:latin typeface="Calibri" panose="020F0502020204030204" pitchFamily="34" charset="0"/>
              </a:rPr>
              <a:t>urrently leads The Microsoft Garage in NYC, where he regularly disrupts the thinking, strategy, and business models of the world’s top companies and organizations. Author of three visionary books on thi</a:t>
            </a:r>
            <a:r>
              <a:rPr lang="en-US" sz="1200" dirty="0">
                <a:solidFill>
                  <a:schemeClr val="bg1"/>
                </a:solidFill>
                <a:latin typeface="Calibri" panose="020F0502020204030204" pitchFamily="34" charset="0"/>
              </a:rPr>
              <a:t>s topic</a:t>
            </a:r>
            <a:r>
              <a:rPr lang="en-US" sz="1200" b="0" i="0" u="none" strike="noStrike" baseline="0" dirty="0">
                <a:solidFill>
                  <a:schemeClr val="bg1"/>
                </a:solidFill>
                <a:latin typeface="Calibri" panose="020F0502020204030204" pitchFamily="34" charset="0"/>
              </a:rPr>
              <a:t>. </a:t>
            </a:r>
          </a:p>
          <a:p>
            <a:endParaRPr lang="en-US" sz="1200" dirty="0">
              <a:solidFill>
                <a:schemeClr val="bg1"/>
              </a:solidFill>
              <a:latin typeface="Calibri" panose="020F0502020204030204" pitchFamily="34" charset="0"/>
            </a:endParaRPr>
          </a:p>
          <a:p>
            <a:endParaRPr lang="en-US" sz="1600" b="1" dirty="0">
              <a:solidFill>
                <a:srgbClr val="FFC000"/>
              </a:solidFill>
              <a:latin typeface="Calibri" panose="020F0502020204030204" pitchFamily="34" charset="0"/>
            </a:endParaRPr>
          </a:p>
          <a:p>
            <a:r>
              <a:rPr lang="en-US" sz="1600" b="1" i="0" u="none" strike="noStrike" baseline="0">
                <a:solidFill>
                  <a:srgbClr val="FFC000"/>
                </a:solidFill>
                <a:latin typeface="Calibri" panose="020F0502020204030204" pitchFamily="34" charset="0"/>
              </a:rPr>
              <a:t>WEBSITE </a:t>
            </a:r>
            <a:r>
              <a:rPr lang="en-US" sz="1100" b="1" i="0" u="none" strike="noStrike" baseline="0">
                <a:solidFill>
                  <a:srgbClr val="FFC000"/>
                </a:solidFill>
                <a:latin typeface="Calibri" panose="020F0502020204030204" pitchFamily="34" charset="0"/>
              </a:rPr>
              <a:t> </a:t>
            </a:r>
            <a:r>
              <a:rPr lang="en-US" sz="1100" b="1" i="0" u="none" strike="noStrike" baseline="0" dirty="0">
                <a:solidFill>
                  <a:srgbClr val="FFC000"/>
                </a:solidFill>
                <a:latin typeface="Calibri" panose="020F0502020204030204" pitchFamily="34" charset="0"/>
              </a:rPr>
              <a:t>(STEALTH)</a:t>
            </a:r>
            <a:endParaRPr lang="en-US" sz="1600" b="1" dirty="0">
              <a:solidFill>
                <a:srgbClr val="FFC000"/>
              </a:solidFill>
              <a:latin typeface="Calibri" panose="020F0502020204030204" pitchFamily="34" charset="0"/>
            </a:endParaRPr>
          </a:p>
          <a:p>
            <a:pPr>
              <a:lnSpc>
                <a:spcPct val="160000"/>
              </a:lnSpc>
            </a:pPr>
            <a:r>
              <a:rPr lang="en-US" sz="1600" b="0" i="0" u="none" strike="noStrike" baseline="0" dirty="0">
                <a:solidFill>
                  <a:schemeClr val="bg1"/>
                </a:solidFill>
                <a:latin typeface="Calibri" panose="020F0502020204030204" pitchFamily="34" charset="0"/>
              </a:rPr>
              <a:t>https://Envisioner.ai</a:t>
            </a:r>
            <a:endParaRPr lang="en-US" sz="1600" b="1" dirty="0">
              <a:solidFill>
                <a:srgbClr val="FFC000"/>
              </a:solidFill>
              <a:latin typeface="Calibri" panose="020F0502020204030204" pitchFamily="34" charset="0"/>
            </a:endParaRPr>
          </a:p>
        </p:txBody>
      </p:sp>
      <p:sp>
        <p:nvSpPr>
          <p:cNvPr id="6" name="TextBox 5">
            <a:extLst>
              <a:ext uri="{FF2B5EF4-FFF2-40B4-BE49-F238E27FC236}">
                <a16:creationId xmlns:a16="http://schemas.microsoft.com/office/drawing/2014/main" id="{EAFD8417-E6ED-9652-6B3A-EEC6B65D9EBA}"/>
              </a:ext>
            </a:extLst>
          </p:cNvPr>
          <p:cNvSpPr txBox="1"/>
          <p:nvPr/>
        </p:nvSpPr>
        <p:spPr>
          <a:xfrm>
            <a:off x="353442" y="1518341"/>
            <a:ext cx="2063185" cy="5127045"/>
          </a:xfrm>
          <a:prstGeom prst="rect">
            <a:avLst/>
          </a:prstGeom>
          <a:noFill/>
        </p:spPr>
        <p:txBody>
          <a:bodyPr wrap="square">
            <a:spAutoFit/>
          </a:bodyPr>
          <a:lstStyle/>
          <a:p>
            <a:pPr>
              <a:spcBef>
                <a:spcPts val="137"/>
              </a:spcBef>
              <a:buNone/>
            </a:pPr>
            <a:r>
              <a:rPr lang="en-US" sz="1400" dirty="0">
                <a:latin typeface="Segoe UI Semilight" panose="020B0402040204020203" pitchFamily="34" charset="0"/>
                <a:cs typeface="Segoe UI Semilight" panose="020B0402040204020203" pitchFamily="34" charset="0"/>
              </a:rPr>
              <a:t>Company: </a:t>
            </a:r>
          </a:p>
          <a:p>
            <a:pPr>
              <a:spcBef>
                <a:spcPts val="137"/>
              </a:spcBef>
              <a:buNone/>
            </a:pPr>
            <a:r>
              <a:rPr lang="en-US" sz="1400" dirty="0">
                <a:solidFill>
                  <a:schemeClr val="bg1"/>
                </a:solidFill>
                <a:latin typeface="Segoe UI Semilight" panose="020B0402040204020203" pitchFamily="34" charset="0"/>
                <a:cs typeface="Segoe UI Semilight" panose="020B0402040204020203" pitchFamily="34" charset="0"/>
              </a:rPr>
              <a:t>Envisioner, Inc.</a:t>
            </a:r>
          </a:p>
          <a:p>
            <a:pPr>
              <a:spcBef>
                <a:spcPts val="137"/>
              </a:spcBef>
              <a:buNone/>
            </a:pPr>
            <a:endParaRPr lang="en-US" sz="1400" dirty="0">
              <a:solidFill>
                <a:schemeClr val="bg1"/>
              </a:solidFill>
              <a:latin typeface="Segoe UI Semilight" panose="020B0402040204020203" pitchFamily="34" charset="0"/>
              <a:cs typeface="Segoe UI Semilight" panose="020B0402040204020203" pitchFamily="34" charset="0"/>
            </a:endParaRPr>
          </a:p>
          <a:p>
            <a:pPr>
              <a:spcBef>
                <a:spcPts val="137"/>
              </a:spcBef>
              <a:buNone/>
            </a:pPr>
            <a:r>
              <a:rPr lang="en-US" sz="1400" dirty="0">
                <a:solidFill>
                  <a:schemeClr val="bg1"/>
                </a:solidFill>
                <a:latin typeface="Segoe UI Semilight" panose="020B0402040204020203" pitchFamily="34" charset="0"/>
                <a:cs typeface="Segoe UI Semilight" panose="020B0402040204020203" pitchFamily="34" charset="0"/>
              </a:rPr>
              <a:t>The world’s very first</a:t>
            </a:r>
          </a:p>
          <a:p>
            <a:pPr>
              <a:spcBef>
                <a:spcPts val="137"/>
              </a:spcBef>
              <a:buNone/>
            </a:pPr>
            <a:r>
              <a:rPr lang="en-US" sz="1400" dirty="0">
                <a:solidFill>
                  <a:schemeClr val="bg1"/>
                </a:solidFill>
                <a:latin typeface="Segoe UI Semilight" panose="020B0402040204020203" pitchFamily="34" charset="0"/>
                <a:cs typeface="Segoe UI Semilight" panose="020B0402040204020203" pitchFamily="34" charset="0"/>
              </a:rPr>
              <a:t>AI-powered assistant for </a:t>
            </a:r>
            <a:r>
              <a:rPr lang="en-US" sz="1400" dirty="0">
                <a:solidFill>
                  <a:srgbClr val="00B0F0"/>
                </a:solidFill>
                <a:latin typeface="Segoe UI Semibold" panose="020B0702040204020203" pitchFamily="34" charset="0"/>
                <a:ea typeface="Montserrat" pitchFamily="34" charset="-122"/>
                <a:cs typeface="Segoe UI Semibold" panose="020B0702040204020203" pitchFamily="34" charset="0"/>
              </a:rPr>
              <a:t>Business Simulation </a:t>
            </a:r>
          </a:p>
          <a:p>
            <a:pPr>
              <a:spcBef>
                <a:spcPts val="137"/>
              </a:spcBef>
              <a:buNone/>
            </a:pPr>
            <a:r>
              <a:rPr lang="en-US" sz="1400" dirty="0">
                <a:solidFill>
                  <a:schemeClr val="bg1"/>
                </a:solidFill>
                <a:latin typeface="Segoe UI Semilight" panose="020B0402040204020203" pitchFamily="34" charset="0"/>
                <a:cs typeface="Segoe UI Semilight" panose="020B0402040204020203" pitchFamily="34" charset="0"/>
              </a:rPr>
              <a:t>that leverages Microsoft Office, web sites, and data to provide an era of unparalleled insights </a:t>
            </a:r>
          </a:p>
          <a:p>
            <a:pPr>
              <a:spcBef>
                <a:spcPts val="137"/>
              </a:spcBef>
              <a:buNone/>
            </a:pPr>
            <a:r>
              <a:rPr lang="en-US" sz="1400" dirty="0">
                <a:solidFill>
                  <a:schemeClr val="bg1"/>
                </a:solidFill>
                <a:latin typeface="Segoe UI Semilight" panose="020B0402040204020203" pitchFamily="34" charset="0"/>
                <a:cs typeface="Segoe UI Semilight" panose="020B0402040204020203" pitchFamily="34" charset="0"/>
              </a:rPr>
              <a:t>and strategic decision-making, on any device, anywhere.</a:t>
            </a:r>
          </a:p>
          <a:p>
            <a:pPr>
              <a:spcBef>
                <a:spcPts val="137"/>
              </a:spcBef>
              <a:buNone/>
            </a:pPr>
            <a:endParaRPr lang="en-US" sz="1600" dirty="0">
              <a:solidFill>
                <a:schemeClr val="bg1">
                  <a:lumMod val="85000"/>
                </a:schemeClr>
              </a:solidFill>
              <a:latin typeface="Segoe UI Semilight" panose="020B0402040204020203" pitchFamily="34" charset="0"/>
              <a:cs typeface="Segoe UI Semilight" panose="020B0402040204020203" pitchFamily="34" charset="0"/>
            </a:endParaRPr>
          </a:p>
          <a:p>
            <a:pPr>
              <a:spcBef>
                <a:spcPts val="137"/>
              </a:spcBef>
              <a:buNone/>
            </a:pPr>
            <a:endParaRPr lang="en-US" sz="1600" dirty="0">
              <a:solidFill>
                <a:schemeClr val="bg1">
                  <a:lumMod val="85000"/>
                </a:schemeClr>
              </a:solidFill>
              <a:latin typeface="Segoe UI Semilight" panose="020B0402040204020203" pitchFamily="34" charset="0"/>
              <a:cs typeface="Segoe UI Semilight" panose="020B0402040204020203" pitchFamily="34" charset="0"/>
            </a:endParaRPr>
          </a:p>
          <a:p>
            <a:pPr>
              <a:spcBef>
                <a:spcPts val="137"/>
              </a:spcBef>
              <a:buNone/>
            </a:pPr>
            <a:r>
              <a:rPr lang="en-US" sz="800" b="1" dirty="0">
                <a:solidFill>
                  <a:schemeClr val="bg1"/>
                </a:solidFill>
                <a:latin typeface="Calibri" panose="020F0502020204030204" pitchFamily="34" charset="0"/>
              </a:rPr>
              <a:t>FOR DATA ROOM ACCESS  CONTACT:</a:t>
            </a:r>
          </a:p>
          <a:p>
            <a:pPr>
              <a:spcBef>
                <a:spcPts val="137"/>
              </a:spcBef>
              <a:buNone/>
            </a:pPr>
            <a:r>
              <a:rPr lang="en-US" sz="700" b="1" dirty="0">
                <a:solidFill>
                  <a:srgbClr val="FFC000"/>
                </a:solidFill>
                <a:latin typeface="Calibri" panose="020F0502020204030204" pitchFamily="34" charset="0"/>
              </a:rPr>
              <a:t> </a:t>
            </a:r>
          </a:p>
          <a:p>
            <a:pPr>
              <a:spcBef>
                <a:spcPts val="137"/>
              </a:spcBef>
              <a:buNone/>
            </a:pPr>
            <a:r>
              <a:rPr lang="en-US" sz="1200" dirty="0">
                <a:solidFill>
                  <a:schemeClr val="bg1">
                    <a:lumMod val="85000"/>
                  </a:schemeClr>
                </a:solidFill>
                <a:latin typeface="Segoe UI Semilight" panose="020B0402040204020203" pitchFamily="34" charset="0"/>
                <a:cs typeface="Segoe UI Semilight" panose="020B0402040204020203" pitchFamily="34" charset="0"/>
              </a:rPr>
              <a:t>Mike Pell</a:t>
            </a:r>
          </a:p>
          <a:p>
            <a:pPr>
              <a:spcBef>
                <a:spcPts val="137"/>
              </a:spcBef>
              <a:buNone/>
            </a:pPr>
            <a:r>
              <a:rPr lang="en-US" sz="1200" dirty="0">
                <a:solidFill>
                  <a:srgbClr val="00B0F0"/>
                </a:solidFill>
                <a:latin typeface="Segoe UI Semilight" panose="020B0402040204020203" pitchFamily="34" charset="0"/>
                <a:cs typeface="Segoe UI Semilight" panose="020B0402040204020203" pitchFamily="34" charset="0"/>
                <a:hlinkClick r:id="rId3">
                  <a:extLst>
                    <a:ext uri="{A12FA001-AC4F-418D-AE19-62706E023703}">
                      <ahyp:hlinkClr xmlns:ahyp="http://schemas.microsoft.com/office/drawing/2018/hyperlinkcolor" val="tx"/>
                    </a:ext>
                  </a:extLst>
                </a:hlinkClick>
              </a:rPr>
              <a:t>mpell@envsioner.ai</a:t>
            </a:r>
            <a:endParaRPr lang="en-US" sz="1200" dirty="0">
              <a:solidFill>
                <a:srgbClr val="00B0F0"/>
              </a:solidFill>
              <a:latin typeface="Segoe UI Semilight" panose="020B0402040204020203" pitchFamily="34" charset="0"/>
              <a:cs typeface="Segoe UI Semilight" panose="020B0402040204020203" pitchFamily="34" charset="0"/>
            </a:endParaRPr>
          </a:p>
          <a:p>
            <a:pPr>
              <a:spcBef>
                <a:spcPts val="137"/>
              </a:spcBef>
              <a:buNone/>
            </a:pPr>
            <a:endParaRPr lang="en-US" sz="1200" dirty="0">
              <a:solidFill>
                <a:srgbClr val="00B0F0"/>
              </a:solidFill>
              <a:latin typeface="Segoe UI Semilight" panose="020B0402040204020203" pitchFamily="34" charset="0"/>
              <a:cs typeface="Segoe UI Semilight" panose="020B0402040204020203" pitchFamily="34" charset="0"/>
            </a:endParaRPr>
          </a:p>
          <a:p>
            <a:pPr>
              <a:spcBef>
                <a:spcPts val="137"/>
              </a:spcBef>
            </a:pPr>
            <a:r>
              <a:rPr lang="en-US" sz="800" b="1" dirty="0">
                <a:solidFill>
                  <a:schemeClr val="bg1"/>
                </a:solidFill>
                <a:latin typeface="Calibri" panose="020F0502020204030204" pitchFamily="34" charset="0"/>
              </a:rPr>
              <a:t>LEGAL REPRESENTATION:</a:t>
            </a:r>
          </a:p>
          <a:p>
            <a:pPr>
              <a:spcBef>
                <a:spcPts val="137"/>
              </a:spcBef>
              <a:buNone/>
            </a:pPr>
            <a:r>
              <a:rPr lang="en-US" sz="1200" dirty="0">
                <a:solidFill>
                  <a:schemeClr val="bg1">
                    <a:lumMod val="85000"/>
                  </a:schemeClr>
                </a:solidFill>
                <a:latin typeface="Segoe UI Semilight" panose="020B0402040204020203" pitchFamily="34" charset="0"/>
                <a:cs typeface="Segoe UI Semilight" panose="020B0402040204020203" pitchFamily="34" charset="0"/>
              </a:rPr>
              <a:t>ArentFox Schiff </a:t>
            </a:r>
            <a:endParaRPr lang="en-US" sz="1200" dirty="0">
              <a:solidFill>
                <a:srgbClr val="00B0F0"/>
              </a:solidFill>
              <a:latin typeface="Segoe UI Semilight" panose="020B0402040204020203" pitchFamily="34" charset="0"/>
              <a:cs typeface="Segoe UI Semilight" panose="020B0402040204020203" pitchFamily="34" charset="0"/>
            </a:endParaRPr>
          </a:p>
          <a:p>
            <a:pPr>
              <a:spcBef>
                <a:spcPts val="137"/>
              </a:spcBef>
              <a:buNone/>
            </a:pPr>
            <a:endParaRPr lang="en-US" sz="1200" dirty="0">
              <a:solidFill>
                <a:srgbClr val="00B0F0"/>
              </a:solidFill>
              <a:latin typeface="Segoe UI Semilight" panose="020B0402040204020203" pitchFamily="34" charset="0"/>
              <a:cs typeface="Segoe UI Semilight" panose="020B0402040204020203" pitchFamily="34" charset="0"/>
            </a:endParaRPr>
          </a:p>
          <a:p>
            <a:pPr>
              <a:spcBef>
                <a:spcPts val="137"/>
              </a:spcBef>
              <a:buNone/>
            </a:pPr>
            <a:endParaRPr lang="en-US" sz="1600" dirty="0">
              <a:solidFill>
                <a:schemeClr val="bg1">
                  <a:lumMod val="85000"/>
                </a:schemeClr>
              </a:solidFill>
              <a:latin typeface="Segoe UI Semilight" panose="020B0402040204020203" pitchFamily="34" charset="0"/>
              <a:cs typeface="Segoe UI Semilight" panose="020B0402040204020203" pitchFamily="34" charset="0"/>
            </a:endParaRPr>
          </a:p>
        </p:txBody>
      </p:sp>
      <p:sp>
        <p:nvSpPr>
          <p:cNvPr id="7" name="Rectangle 6">
            <a:extLst>
              <a:ext uri="{FF2B5EF4-FFF2-40B4-BE49-F238E27FC236}">
                <a16:creationId xmlns:a16="http://schemas.microsoft.com/office/drawing/2014/main" id="{E5545C83-C32D-2C08-6B95-594EA24CA860}"/>
              </a:ext>
            </a:extLst>
          </p:cNvPr>
          <p:cNvSpPr/>
          <p:nvPr/>
        </p:nvSpPr>
        <p:spPr>
          <a:xfrm>
            <a:off x="250600" y="1573536"/>
            <a:ext cx="2147647" cy="3016133"/>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04633DD-F99A-ADB4-EBBD-F09B00AA8250}"/>
              </a:ext>
            </a:extLst>
          </p:cNvPr>
          <p:cNvSpPr txBox="1"/>
          <p:nvPr/>
        </p:nvSpPr>
        <p:spPr>
          <a:xfrm>
            <a:off x="250601" y="284429"/>
            <a:ext cx="2147647" cy="870110"/>
          </a:xfrm>
          <a:prstGeom prst="rect">
            <a:avLst/>
          </a:prstGeom>
          <a:noFill/>
        </p:spPr>
        <p:txBody>
          <a:bodyPr wrap="square" rtlCol="0">
            <a:spAutoFit/>
          </a:bodyPr>
          <a:lstStyle/>
          <a:p>
            <a:pPr>
              <a:lnSpc>
                <a:spcPts val="3000"/>
              </a:lnSpc>
            </a:pPr>
            <a:r>
              <a:rPr lang="en-US" sz="3600" spc="-150" dirty="0">
                <a:solidFill>
                  <a:schemeClr val="bg1"/>
                </a:solidFill>
                <a:latin typeface="Segoe UI Semibold" panose="020B0702040204020203" pitchFamily="34" charset="0"/>
                <a:cs typeface="Segoe UI Semibold" panose="020B0702040204020203" pitchFamily="34" charset="0"/>
              </a:rPr>
              <a:t>Investor</a:t>
            </a:r>
          </a:p>
          <a:p>
            <a:pPr>
              <a:lnSpc>
                <a:spcPts val="3000"/>
              </a:lnSpc>
            </a:pPr>
            <a:r>
              <a:rPr lang="en-US" sz="3600" spc="-150" dirty="0">
                <a:solidFill>
                  <a:schemeClr val="bg1"/>
                </a:solidFill>
                <a:latin typeface="Segoe UI Semibold" panose="020B0702040204020203" pitchFamily="34" charset="0"/>
                <a:cs typeface="Segoe UI Semibold" panose="020B0702040204020203" pitchFamily="34" charset="0"/>
              </a:rPr>
              <a:t>Summary</a:t>
            </a:r>
            <a:endParaRPr lang="en-US" sz="900" spc="-150" dirty="0">
              <a:solidFill>
                <a:schemeClr val="bg1"/>
              </a:solidFill>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790D088A-DCE4-537F-4732-03124EA5A172}"/>
              </a:ext>
            </a:extLst>
          </p:cNvPr>
          <p:cNvPicPr>
            <a:picLocks noChangeAspect="1"/>
          </p:cNvPicPr>
          <p:nvPr/>
        </p:nvPicPr>
        <p:blipFill>
          <a:blip r:embed="rId4" cstate="screen">
            <a:extLst>
              <a:ext uri="{28A0092B-C50C-407E-A947-70E740481C1C}">
                <a14:useLocalDpi xmlns:a14="http://schemas.microsoft.com/office/drawing/2010/main" val="0"/>
              </a:ext>
            </a:extLst>
          </a:blip>
          <a:srcRect l="-2906" r="-2884"/>
          <a:stretch>
            <a:fillRect/>
          </a:stretch>
        </p:blipFill>
        <p:spPr>
          <a:xfrm>
            <a:off x="8796341" y="5571646"/>
            <a:ext cx="1921765" cy="210719"/>
          </a:xfrm>
          <a:prstGeom prst="rect">
            <a:avLst/>
          </a:prstGeom>
        </p:spPr>
      </p:pic>
    </p:spTree>
    <p:extLst>
      <p:ext uri="{BB962C8B-B14F-4D97-AF65-F5344CB8AC3E}">
        <p14:creationId xmlns:p14="http://schemas.microsoft.com/office/powerpoint/2010/main" val="376868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1A1A8-4D99-0D23-91FC-FD301D6601AF}"/>
            </a:ext>
          </a:extLst>
        </p:cNvPr>
        <p:cNvGrpSpPr/>
        <p:nvPr/>
      </p:nvGrpSpPr>
      <p:grpSpPr>
        <a:xfrm>
          <a:off x="0" y="0"/>
          <a:ext cx="0" cy="0"/>
          <a:chOff x="0" y="0"/>
          <a:chExt cx="0" cy="0"/>
        </a:xfrm>
      </p:grpSpPr>
      <p:pic>
        <p:nvPicPr>
          <p:cNvPr id="3" name="Object 2">
            <a:extLst>
              <a:ext uri="{FF2B5EF4-FFF2-40B4-BE49-F238E27FC236}">
                <a16:creationId xmlns:a16="http://schemas.microsoft.com/office/drawing/2014/main" id="{429162A0-D3C0-C062-244B-9203AB497A4E}"/>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p:blipFill>
        <p:spPr>
          <a:xfrm>
            <a:off x="532735" y="1106173"/>
            <a:ext cx="2380654" cy="2380654"/>
          </a:xfrm>
          <a:prstGeom prst="rect">
            <a:avLst/>
          </a:prstGeom>
        </p:spPr>
      </p:pic>
      <p:sp>
        <p:nvSpPr>
          <p:cNvPr id="4" name="Object 3">
            <a:extLst>
              <a:ext uri="{FF2B5EF4-FFF2-40B4-BE49-F238E27FC236}">
                <a16:creationId xmlns:a16="http://schemas.microsoft.com/office/drawing/2014/main" id="{A6DA14F1-A627-F778-BD7D-D77A5D533869}"/>
              </a:ext>
            </a:extLst>
          </p:cNvPr>
          <p:cNvSpPr/>
          <p:nvPr/>
        </p:nvSpPr>
        <p:spPr>
          <a:xfrm>
            <a:off x="200858" y="3627356"/>
            <a:ext cx="2697282" cy="230403"/>
          </a:xfrm>
          <a:prstGeom prst="rect">
            <a:avLst/>
          </a:prstGeom>
          <a:noFill/>
        </p:spPr>
        <p:txBody>
          <a:bodyPr wrap="square" lIns="0" tIns="0" rIns="0" bIns="0" rtlCol="0" anchor="t"/>
          <a:lstStyle/>
          <a:p>
            <a:pPr algn="ctr">
              <a:lnSpc>
                <a:spcPts val="1814"/>
              </a:lnSpc>
              <a:buNone/>
            </a:pPr>
            <a:r>
              <a:rPr lang="en-US" sz="1600" b="1" dirty="0">
                <a:solidFill>
                  <a:schemeClr val="bg1"/>
                </a:solidFill>
                <a:latin typeface="Montserrat" pitchFamily="34" charset="0"/>
                <a:ea typeface="Montserrat" pitchFamily="34" charset="-122"/>
                <a:cs typeface="Montserrat" pitchFamily="34" charset="-120"/>
              </a:rPr>
              <a:t>Mike Pell</a:t>
            </a:r>
            <a:endParaRPr lang="en-US" sz="2000" b="1" dirty="0">
              <a:solidFill>
                <a:schemeClr val="bg1"/>
              </a:solidFill>
            </a:endParaRPr>
          </a:p>
        </p:txBody>
      </p:sp>
      <p:sp>
        <p:nvSpPr>
          <p:cNvPr id="5" name="Object 4">
            <a:extLst>
              <a:ext uri="{FF2B5EF4-FFF2-40B4-BE49-F238E27FC236}">
                <a16:creationId xmlns:a16="http://schemas.microsoft.com/office/drawing/2014/main" id="{2397F735-92CB-DFC7-2130-9E5B2ED91CBE}"/>
              </a:ext>
            </a:extLst>
          </p:cNvPr>
          <p:cNvSpPr/>
          <p:nvPr/>
        </p:nvSpPr>
        <p:spPr>
          <a:xfrm>
            <a:off x="200858" y="3943685"/>
            <a:ext cx="2697282" cy="213292"/>
          </a:xfrm>
          <a:prstGeom prst="rect">
            <a:avLst/>
          </a:prstGeom>
          <a:noFill/>
        </p:spPr>
        <p:txBody>
          <a:bodyPr wrap="square" lIns="0" tIns="0" rIns="0" bIns="0" rtlCol="0" anchor="t"/>
          <a:lstStyle/>
          <a:p>
            <a:pPr algn="ctr">
              <a:buNone/>
            </a:pPr>
            <a:r>
              <a:rPr lang="en-US" sz="1200" dirty="0">
                <a:solidFill>
                  <a:schemeClr val="bg1"/>
                </a:solidFill>
                <a:latin typeface="Montserrat" pitchFamily="34" charset="0"/>
                <a:ea typeface="Montserrat" pitchFamily="34" charset="-122"/>
                <a:cs typeface="Montserrat" pitchFamily="34" charset="-120"/>
              </a:rPr>
              <a:t>Chief Executive Officer</a:t>
            </a:r>
          </a:p>
          <a:p>
            <a:pPr algn="ctr">
              <a:buNone/>
            </a:pPr>
            <a:r>
              <a:rPr lang="en-US" sz="1200" dirty="0">
                <a:solidFill>
                  <a:schemeClr val="bg1">
                    <a:lumMod val="65000"/>
                  </a:schemeClr>
                </a:solidFill>
                <a:latin typeface="Montserrat" pitchFamily="34" charset="0"/>
                <a:ea typeface="Montserrat" pitchFamily="34" charset="-122"/>
                <a:cs typeface="Montserrat" pitchFamily="34" charset="-120"/>
              </a:rPr>
              <a:t>(Founder, interim CDO)</a:t>
            </a:r>
            <a:endParaRPr lang="en-US" dirty="0">
              <a:solidFill>
                <a:schemeClr val="bg1">
                  <a:lumMod val="65000"/>
                </a:schemeClr>
              </a:solidFill>
            </a:endParaRPr>
          </a:p>
        </p:txBody>
      </p:sp>
      <p:pic>
        <p:nvPicPr>
          <p:cNvPr id="12" name="Object 11" descr="preencoded.png">
            <a:extLst>
              <a:ext uri="{FF2B5EF4-FFF2-40B4-BE49-F238E27FC236}">
                <a16:creationId xmlns:a16="http://schemas.microsoft.com/office/drawing/2014/main" id="{08BCAA6C-93A8-A93D-CF80-478C9D29938B}"/>
              </a:ext>
            </a:extLst>
          </p:cNvPr>
          <p:cNvPicPr>
            <a:picLocks noChangeAspect="1"/>
          </p:cNvPicPr>
          <p:nvPr/>
        </p:nvPicPr>
        <p:blipFill rotWithShape="1">
          <a:blip r:embed="rId4"/>
          <a:srcRect l="9128" t="-1395" r="10647" b="21169"/>
          <a:stretch/>
        </p:blipFill>
        <p:spPr>
          <a:xfrm>
            <a:off x="3450022" y="1106173"/>
            <a:ext cx="2380655" cy="2380655"/>
          </a:xfrm>
          <a:prstGeom prst="rect">
            <a:avLst/>
          </a:prstGeom>
        </p:spPr>
      </p:pic>
      <p:sp>
        <p:nvSpPr>
          <p:cNvPr id="13" name="Object 12">
            <a:extLst>
              <a:ext uri="{FF2B5EF4-FFF2-40B4-BE49-F238E27FC236}">
                <a16:creationId xmlns:a16="http://schemas.microsoft.com/office/drawing/2014/main" id="{9D33BEB9-C126-C345-8F7D-50FF9703B435}"/>
              </a:ext>
            </a:extLst>
          </p:cNvPr>
          <p:cNvSpPr/>
          <p:nvPr/>
        </p:nvSpPr>
        <p:spPr>
          <a:xfrm>
            <a:off x="3262385" y="3626096"/>
            <a:ext cx="2697282" cy="230403"/>
          </a:xfrm>
          <a:prstGeom prst="rect">
            <a:avLst/>
          </a:prstGeom>
          <a:noFill/>
        </p:spPr>
        <p:txBody>
          <a:bodyPr wrap="square" lIns="0" tIns="0" rIns="0" bIns="0" rtlCol="0" anchor="t"/>
          <a:lstStyle/>
          <a:p>
            <a:pPr algn="ctr">
              <a:lnSpc>
                <a:spcPts val="1814"/>
              </a:lnSpc>
              <a:buNone/>
            </a:pPr>
            <a:r>
              <a:rPr lang="en-US" sz="1600" b="1" dirty="0">
                <a:solidFill>
                  <a:schemeClr val="bg1"/>
                </a:solidFill>
                <a:latin typeface="Montserrat" pitchFamily="34" charset="0"/>
                <a:ea typeface="Montserrat" pitchFamily="34" charset="-122"/>
                <a:cs typeface="Montserrat" pitchFamily="34" charset="-120"/>
              </a:rPr>
              <a:t>Randy Adams</a:t>
            </a:r>
            <a:endParaRPr lang="en-US" sz="2000" b="1" dirty="0">
              <a:solidFill>
                <a:schemeClr val="bg1"/>
              </a:solidFill>
            </a:endParaRPr>
          </a:p>
        </p:txBody>
      </p:sp>
      <p:sp>
        <p:nvSpPr>
          <p:cNvPr id="14" name="Object 13">
            <a:extLst>
              <a:ext uri="{FF2B5EF4-FFF2-40B4-BE49-F238E27FC236}">
                <a16:creationId xmlns:a16="http://schemas.microsoft.com/office/drawing/2014/main" id="{38560D03-62B7-D670-0AD9-FE77C1E7F539}"/>
              </a:ext>
            </a:extLst>
          </p:cNvPr>
          <p:cNvSpPr/>
          <p:nvPr/>
        </p:nvSpPr>
        <p:spPr>
          <a:xfrm>
            <a:off x="3262385" y="3942425"/>
            <a:ext cx="2697282" cy="426584"/>
          </a:xfrm>
          <a:prstGeom prst="rect">
            <a:avLst/>
          </a:prstGeom>
          <a:noFill/>
        </p:spPr>
        <p:txBody>
          <a:bodyPr wrap="square" lIns="0" tIns="0" rIns="0" bIns="0" rtlCol="0" anchor="t"/>
          <a:lstStyle/>
          <a:p>
            <a:pPr algn="ctr">
              <a:buNone/>
            </a:pPr>
            <a:r>
              <a:rPr lang="en-US" sz="1200" dirty="0">
                <a:solidFill>
                  <a:schemeClr val="bg1"/>
                </a:solidFill>
                <a:latin typeface="Montserrat" pitchFamily="34" charset="0"/>
                <a:ea typeface="Montserrat" pitchFamily="34" charset="-122"/>
                <a:cs typeface="Montserrat" pitchFamily="34" charset="-120"/>
              </a:rPr>
              <a:t>Chief Operating Officer </a:t>
            </a:r>
          </a:p>
          <a:p>
            <a:pPr algn="ctr">
              <a:buNone/>
            </a:pPr>
            <a:r>
              <a:rPr lang="en-US" sz="1200" dirty="0">
                <a:solidFill>
                  <a:schemeClr val="bg1">
                    <a:lumMod val="65000"/>
                  </a:schemeClr>
                </a:solidFill>
                <a:latin typeface="Montserrat" pitchFamily="34" charset="0"/>
              </a:rPr>
              <a:t>(interim CTO)</a:t>
            </a:r>
            <a:endParaRPr lang="en-US" dirty="0">
              <a:solidFill>
                <a:schemeClr val="bg1">
                  <a:lumMod val="65000"/>
                </a:schemeClr>
              </a:solidFill>
            </a:endParaRPr>
          </a:p>
        </p:txBody>
      </p:sp>
      <p:sp>
        <p:nvSpPr>
          <p:cNvPr id="26" name="Object 4">
            <a:extLst>
              <a:ext uri="{FF2B5EF4-FFF2-40B4-BE49-F238E27FC236}">
                <a16:creationId xmlns:a16="http://schemas.microsoft.com/office/drawing/2014/main" id="{E133C9F0-0450-29F5-4B64-6222CDD7E043}"/>
              </a:ext>
            </a:extLst>
          </p:cNvPr>
          <p:cNvSpPr/>
          <p:nvPr/>
        </p:nvSpPr>
        <p:spPr>
          <a:xfrm>
            <a:off x="481176" y="4459109"/>
            <a:ext cx="2899272" cy="1475002"/>
          </a:xfrm>
          <a:prstGeom prst="rect">
            <a:avLst/>
          </a:prstGeom>
          <a:noFill/>
        </p:spPr>
        <p:txBody>
          <a:bodyPr wrap="square" lIns="0" tIns="0" rIns="0" bIns="0" rtlCol="0" anchor="t"/>
          <a:lstStyle/>
          <a:p>
            <a:pPr marL="171450" indent="-171450">
              <a:spcAft>
                <a:spcPts val="300"/>
              </a:spcAft>
              <a:buFont typeface="Arial" panose="020B0604020202020204" pitchFamily="34" charset="0"/>
              <a:buChar char="•"/>
            </a:pPr>
            <a:r>
              <a:rPr lang="en-US" sz="1100" dirty="0">
                <a:solidFill>
                  <a:schemeClr val="bg1"/>
                </a:solidFill>
                <a:latin typeface="Montserrat" pitchFamily="34" charset="0"/>
              </a:rPr>
              <a:t>Invented Acrobat and PDF at Adobe</a:t>
            </a:r>
          </a:p>
          <a:p>
            <a:pPr marL="171450" indent="-171450">
              <a:spcAft>
                <a:spcPts val="300"/>
              </a:spcAft>
              <a:buFont typeface="Arial" panose="020B0604020202020204" pitchFamily="34" charset="0"/>
              <a:buChar char="•"/>
            </a:pPr>
            <a:r>
              <a:rPr lang="en-US" sz="1100" dirty="0">
                <a:solidFill>
                  <a:schemeClr val="bg1">
                    <a:lumMod val="65000"/>
                  </a:schemeClr>
                </a:solidFill>
                <a:latin typeface="Montserrat" pitchFamily="34" charset="0"/>
                <a:ea typeface="Montserrat" pitchFamily="34" charset="-122"/>
                <a:cs typeface="Montserrat" pitchFamily="34" charset="-120"/>
              </a:rPr>
              <a:t>Leads Microsoft global innovation program called  “The Garage” in NYC</a:t>
            </a:r>
          </a:p>
          <a:p>
            <a:pPr marL="171450" indent="-171450">
              <a:spcAft>
                <a:spcPts val="300"/>
              </a:spcAft>
              <a:buFont typeface="Arial" panose="020B0604020202020204" pitchFamily="34" charset="0"/>
              <a:buChar char="•"/>
            </a:pPr>
            <a:r>
              <a:rPr lang="en-US" sz="1100" dirty="0">
                <a:solidFill>
                  <a:schemeClr val="bg1">
                    <a:lumMod val="65000"/>
                  </a:schemeClr>
                </a:solidFill>
                <a:latin typeface="Montserrat" pitchFamily="34" charset="0"/>
              </a:rPr>
              <a:t>Expert in advanced Data Viz + AI</a:t>
            </a:r>
          </a:p>
          <a:p>
            <a:pPr marL="171450" indent="-171450">
              <a:spcAft>
                <a:spcPts val="300"/>
              </a:spcAft>
              <a:buFont typeface="Arial" panose="020B0604020202020204" pitchFamily="34" charset="0"/>
              <a:buChar char="•"/>
            </a:pPr>
            <a:r>
              <a:rPr lang="en-US" sz="1100" dirty="0">
                <a:solidFill>
                  <a:schemeClr val="bg1">
                    <a:lumMod val="65000"/>
                  </a:schemeClr>
                </a:solidFill>
                <a:latin typeface="Montserrat" pitchFamily="34" charset="0"/>
              </a:rPr>
              <a:t>Author of 3 visionary books</a:t>
            </a:r>
          </a:p>
          <a:p>
            <a:pPr marL="171450" indent="-171450">
              <a:spcAft>
                <a:spcPts val="300"/>
              </a:spcAft>
              <a:buFont typeface="Arial" panose="020B0604020202020204" pitchFamily="34" charset="0"/>
              <a:buChar char="•"/>
            </a:pPr>
            <a:r>
              <a:rPr lang="en-US" sz="1100" dirty="0">
                <a:solidFill>
                  <a:schemeClr val="bg1">
                    <a:lumMod val="65000"/>
                  </a:schemeClr>
                </a:solidFill>
                <a:latin typeface="Montserrat" pitchFamily="34" charset="0"/>
              </a:rPr>
              <a:t>40 years tech industry experience</a:t>
            </a:r>
            <a:endParaRPr lang="en-US" sz="1600" dirty="0">
              <a:solidFill>
                <a:schemeClr val="bg1">
                  <a:lumMod val="65000"/>
                </a:schemeClr>
              </a:solidFill>
            </a:endParaRPr>
          </a:p>
        </p:txBody>
      </p:sp>
      <p:sp>
        <p:nvSpPr>
          <p:cNvPr id="27" name="Object 4">
            <a:extLst>
              <a:ext uri="{FF2B5EF4-FFF2-40B4-BE49-F238E27FC236}">
                <a16:creationId xmlns:a16="http://schemas.microsoft.com/office/drawing/2014/main" id="{F37CA3D8-D864-0926-51D2-22F72D490C04}"/>
              </a:ext>
            </a:extLst>
          </p:cNvPr>
          <p:cNvSpPr/>
          <p:nvPr/>
        </p:nvSpPr>
        <p:spPr>
          <a:xfrm>
            <a:off x="3423934" y="4459109"/>
            <a:ext cx="2604825" cy="1475002"/>
          </a:xfrm>
          <a:prstGeom prst="rect">
            <a:avLst/>
          </a:prstGeom>
          <a:noFill/>
        </p:spPr>
        <p:txBody>
          <a:bodyPr wrap="square" lIns="0" tIns="0" rIns="0" bIns="0" rtlCol="0" anchor="t"/>
          <a:lstStyle/>
          <a:p>
            <a:pPr marL="171450" indent="-171450">
              <a:spcAft>
                <a:spcPts val="300"/>
              </a:spcAft>
              <a:buFont typeface="Arial" panose="020B0604020202020204" pitchFamily="34" charset="0"/>
              <a:buChar char="•"/>
            </a:pPr>
            <a:r>
              <a:rPr lang="en-US" sz="1100" dirty="0">
                <a:solidFill>
                  <a:schemeClr val="bg1">
                    <a:lumMod val="65000"/>
                  </a:schemeClr>
                </a:solidFill>
                <a:latin typeface="Montserrat" pitchFamily="34" charset="0"/>
                <a:ea typeface="Montserrat" pitchFamily="34" charset="-122"/>
                <a:cs typeface="Montserrat" pitchFamily="34" charset="-120"/>
              </a:rPr>
              <a:t>Successful SV Serial Entrepreneur</a:t>
            </a:r>
          </a:p>
          <a:p>
            <a:pPr marL="171450" indent="-171450">
              <a:spcAft>
                <a:spcPts val="300"/>
              </a:spcAft>
              <a:buFont typeface="Arial" panose="020B0604020202020204" pitchFamily="34" charset="0"/>
              <a:buChar char="•"/>
            </a:pPr>
            <a:r>
              <a:rPr lang="en-US" sz="1100" dirty="0">
                <a:solidFill>
                  <a:schemeClr val="bg1"/>
                </a:solidFill>
                <a:latin typeface="Montserrat" pitchFamily="34" charset="0"/>
              </a:rPr>
              <a:t>Founded 9 VC startups; exited 5</a:t>
            </a:r>
          </a:p>
          <a:p>
            <a:pPr marL="171450" indent="-171450">
              <a:spcAft>
                <a:spcPts val="300"/>
              </a:spcAft>
              <a:buFont typeface="Arial" panose="020B0604020202020204" pitchFamily="34" charset="0"/>
              <a:buChar char="•"/>
            </a:pPr>
            <a:r>
              <a:rPr lang="en-US" sz="1100" dirty="0">
                <a:solidFill>
                  <a:schemeClr val="bg1">
                    <a:lumMod val="65000"/>
                  </a:schemeClr>
                </a:solidFill>
                <a:latin typeface="Montserrat" pitchFamily="34" charset="0"/>
              </a:rPr>
              <a:t>Silicon Valley legend; well-known</a:t>
            </a:r>
          </a:p>
          <a:p>
            <a:pPr marL="171450" indent="-171450">
              <a:spcAft>
                <a:spcPts val="300"/>
              </a:spcAft>
              <a:buFont typeface="Arial" panose="020B0604020202020204" pitchFamily="34" charset="0"/>
              <a:buChar char="•"/>
            </a:pPr>
            <a:r>
              <a:rPr lang="en-US" sz="1100" dirty="0">
                <a:solidFill>
                  <a:schemeClr val="bg1">
                    <a:lumMod val="65000"/>
                  </a:schemeClr>
                </a:solidFill>
                <a:latin typeface="Montserrat" pitchFamily="34" charset="0"/>
              </a:rPr>
              <a:t>Managed the PDF Team at Adobe</a:t>
            </a:r>
          </a:p>
          <a:p>
            <a:pPr marL="171450" indent="-171450">
              <a:spcAft>
                <a:spcPts val="300"/>
              </a:spcAft>
              <a:buFont typeface="Arial" panose="020B0604020202020204" pitchFamily="34" charset="0"/>
              <a:buChar char="•"/>
            </a:pPr>
            <a:r>
              <a:rPr lang="en-US" sz="1100" dirty="0">
                <a:solidFill>
                  <a:schemeClr val="bg1">
                    <a:lumMod val="65000"/>
                  </a:schemeClr>
                </a:solidFill>
                <a:latin typeface="Montserrat" pitchFamily="34" charset="0"/>
              </a:rPr>
              <a:t>Recruited by Steve Jobs for NeXT</a:t>
            </a:r>
          </a:p>
          <a:p>
            <a:pPr marL="171450" indent="-171450">
              <a:spcAft>
                <a:spcPts val="300"/>
              </a:spcAft>
              <a:buFont typeface="Arial" panose="020B0604020202020204" pitchFamily="34" charset="0"/>
              <a:buChar char="•"/>
            </a:pPr>
            <a:r>
              <a:rPr lang="en-US" sz="1100" dirty="0">
                <a:solidFill>
                  <a:schemeClr val="bg1">
                    <a:lumMod val="65000"/>
                  </a:schemeClr>
                </a:solidFill>
                <a:latin typeface="Montserrat" pitchFamily="34" charset="0"/>
              </a:rPr>
              <a:t>40 years tech industry experience</a:t>
            </a:r>
          </a:p>
          <a:p>
            <a:pPr marL="285750" indent="-285750">
              <a:spcAft>
                <a:spcPts val="300"/>
              </a:spcAft>
              <a:buFont typeface="Arial" panose="020B0604020202020204" pitchFamily="34" charset="0"/>
              <a:buChar char="•"/>
            </a:pPr>
            <a:endParaRPr lang="en-US" sz="1600" dirty="0">
              <a:solidFill>
                <a:schemeClr val="bg1">
                  <a:lumMod val="65000"/>
                </a:schemeClr>
              </a:solidFill>
            </a:endParaRPr>
          </a:p>
        </p:txBody>
      </p:sp>
      <p:sp>
        <p:nvSpPr>
          <p:cNvPr id="31" name="Object 1">
            <a:extLst>
              <a:ext uri="{FF2B5EF4-FFF2-40B4-BE49-F238E27FC236}">
                <a16:creationId xmlns:a16="http://schemas.microsoft.com/office/drawing/2014/main" id="{F8FB81BA-61F8-2BC4-84A6-796FC4CED190}"/>
              </a:ext>
            </a:extLst>
          </p:cNvPr>
          <p:cNvSpPr/>
          <p:nvPr/>
        </p:nvSpPr>
        <p:spPr>
          <a:xfrm>
            <a:off x="481176" y="546206"/>
            <a:ext cx="5745402" cy="509906"/>
          </a:xfrm>
          <a:prstGeom prst="rect">
            <a:avLst/>
          </a:prstGeom>
          <a:noFill/>
        </p:spPr>
        <p:txBody>
          <a:bodyPr wrap="square" lIns="0" tIns="0" rIns="0" bIns="0" rtlCol="0" anchor="t"/>
          <a:lstStyle/>
          <a:p>
            <a:pPr>
              <a:lnSpc>
                <a:spcPts val="4016"/>
              </a:lnSpc>
            </a:pPr>
            <a:r>
              <a:rPr lang="en-US" sz="1600" dirty="0">
                <a:solidFill>
                  <a:schemeClr val="bg1">
                    <a:lumMod val="65000"/>
                  </a:schemeClr>
                </a:solidFill>
                <a:latin typeface="Segoe UI Semilight"/>
                <a:cs typeface="Segoe UI Semilight"/>
              </a:rPr>
              <a:t>Very successful, highly motivated, vastly experienced</a:t>
            </a:r>
            <a:endParaRPr lang="en-US" sz="1050" dirty="0">
              <a:solidFill>
                <a:schemeClr val="bg1">
                  <a:lumMod val="65000"/>
                </a:schemeClr>
              </a:solidFill>
              <a:latin typeface="Segoe UI Semilight"/>
              <a:cs typeface="Segoe UI Semilight"/>
            </a:endParaRPr>
          </a:p>
        </p:txBody>
      </p:sp>
      <p:grpSp>
        <p:nvGrpSpPr>
          <p:cNvPr id="9" name="Group 8">
            <a:extLst>
              <a:ext uri="{FF2B5EF4-FFF2-40B4-BE49-F238E27FC236}">
                <a16:creationId xmlns:a16="http://schemas.microsoft.com/office/drawing/2014/main" id="{14C1A420-0C0D-5429-5BA0-7E432FF35FBA}"/>
              </a:ext>
            </a:extLst>
          </p:cNvPr>
          <p:cNvGrpSpPr/>
          <p:nvPr/>
        </p:nvGrpSpPr>
        <p:grpSpPr>
          <a:xfrm>
            <a:off x="1969523" y="5838976"/>
            <a:ext cx="1055594" cy="332258"/>
            <a:chOff x="2007576" y="6010515"/>
            <a:chExt cx="1055594" cy="332258"/>
          </a:xfrm>
        </p:grpSpPr>
        <p:sp>
          <p:nvSpPr>
            <p:cNvPr id="7" name="Rectangle 6">
              <a:extLst>
                <a:ext uri="{FF2B5EF4-FFF2-40B4-BE49-F238E27FC236}">
                  <a16:creationId xmlns:a16="http://schemas.microsoft.com/office/drawing/2014/main" id="{306B0B9F-642B-9E6A-7CE6-52B076EF9690}"/>
                </a:ext>
              </a:extLst>
            </p:cNvPr>
            <p:cNvSpPr/>
            <p:nvPr/>
          </p:nvSpPr>
          <p:spPr>
            <a:xfrm>
              <a:off x="2058506" y="6043332"/>
              <a:ext cx="271670" cy="2536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D1B71E31-D8D9-FC10-BFF8-34AFE181E8D1}"/>
                </a:ext>
              </a:extLst>
            </p:cNvPr>
            <p:cNvPicPr>
              <a:picLocks noChangeAspect="1" noChangeArrowheads="1"/>
            </p:cNvPicPr>
            <p:nvPr/>
          </p:nvPicPr>
          <p:blipFill rotWithShape="1">
            <a:blip r:embed="rId5" cstate="screen">
              <a:extLst>
                <a:ext uri="{28A0092B-C50C-407E-A947-70E740481C1C}">
                  <a14:useLocalDpi xmlns:a14="http://schemas.microsoft.com/office/drawing/2010/main" val="0"/>
                </a:ext>
              </a:extLst>
            </a:blip>
            <a:srcRect l="23098" t="71852" r="36487" b="4418"/>
            <a:stretch/>
          </p:blipFill>
          <p:spPr bwMode="auto">
            <a:xfrm>
              <a:off x="2007576" y="6010515"/>
              <a:ext cx="1055594" cy="332258"/>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Picture 2">
            <a:extLst>
              <a:ext uri="{FF2B5EF4-FFF2-40B4-BE49-F238E27FC236}">
                <a16:creationId xmlns:a16="http://schemas.microsoft.com/office/drawing/2014/main" id="{3F4C6E53-6FEC-E1FD-6767-B8607F245DFE}"/>
              </a:ext>
            </a:extLst>
          </p:cNvPr>
          <p:cNvPicPr>
            <a:picLocks noChangeAspect="1" noChangeArrowheads="1"/>
          </p:cNvPicPr>
          <p:nvPr/>
        </p:nvPicPr>
        <p:blipFill rotWithShape="1">
          <a:blip r:embed="rId6" cstate="screen">
            <a:extLst>
              <a:ext uri="{28A0092B-C50C-407E-A947-70E740481C1C}">
                <a14:useLocalDpi xmlns:a14="http://schemas.microsoft.com/office/drawing/2010/main" val="0"/>
              </a:ext>
            </a:extLst>
          </a:blip>
          <a:srcRect l="22458" t="27384" r="23479" b="48961"/>
          <a:stretch/>
        </p:blipFill>
        <p:spPr bwMode="auto">
          <a:xfrm>
            <a:off x="580994" y="5923984"/>
            <a:ext cx="1234620" cy="289589"/>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9F00199C-6D78-6FE6-EF1F-2AACBCD83B78}"/>
              </a:ext>
            </a:extLst>
          </p:cNvPr>
          <p:cNvGrpSpPr/>
          <p:nvPr/>
        </p:nvGrpSpPr>
        <p:grpSpPr>
          <a:xfrm>
            <a:off x="4558897" y="5838976"/>
            <a:ext cx="1055594" cy="332258"/>
            <a:chOff x="2007576" y="6010515"/>
            <a:chExt cx="1055594" cy="332258"/>
          </a:xfrm>
        </p:grpSpPr>
        <p:sp>
          <p:nvSpPr>
            <p:cNvPr id="11" name="Rectangle 10">
              <a:extLst>
                <a:ext uri="{FF2B5EF4-FFF2-40B4-BE49-F238E27FC236}">
                  <a16:creationId xmlns:a16="http://schemas.microsoft.com/office/drawing/2014/main" id="{50C5C418-D16A-A53F-8D05-72B92A11EA16}"/>
                </a:ext>
              </a:extLst>
            </p:cNvPr>
            <p:cNvSpPr/>
            <p:nvPr/>
          </p:nvSpPr>
          <p:spPr>
            <a:xfrm>
              <a:off x="2058506" y="6043332"/>
              <a:ext cx="271670" cy="2536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a:extLst>
                <a:ext uri="{FF2B5EF4-FFF2-40B4-BE49-F238E27FC236}">
                  <a16:creationId xmlns:a16="http://schemas.microsoft.com/office/drawing/2014/main" id="{2576828A-2536-F57D-3D03-49CEA72A3A88}"/>
                </a:ext>
              </a:extLst>
            </p:cNvPr>
            <p:cNvPicPr>
              <a:picLocks noChangeAspect="1" noChangeArrowheads="1"/>
            </p:cNvPicPr>
            <p:nvPr/>
          </p:nvPicPr>
          <p:blipFill rotWithShape="1">
            <a:blip r:embed="rId5" cstate="screen">
              <a:extLst>
                <a:ext uri="{28A0092B-C50C-407E-A947-70E740481C1C}">
                  <a14:useLocalDpi xmlns:a14="http://schemas.microsoft.com/office/drawing/2010/main" val="0"/>
                </a:ext>
              </a:extLst>
            </a:blip>
            <a:srcRect l="23098" t="71852" r="36487" b="4418"/>
            <a:stretch/>
          </p:blipFill>
          <p:spPr bwMode="auto">
            <a:xfrm>
              <a:off x="2007576" y="6010515"/>
              <a:ext cx="1055594" cy="332258"/>
            </a:xfrm>
            <a:prstGeom prst="rect">
              <a:avLst/>
            </a:prstGeom>
            <a:noFill/>
            <a:extLst>
              <a:ext uri="{909E8E84-426E-40DD-AFC4-6F175D3DCCD1}">
                <a14:hiddenFill xmlns:a14="http://schemas.microsoft.com/office/drawing/2010/main">
                  <a:solidFill>
                    <a:srgbClr val="FFFFFF"/>
                  </a:solidFill>
                </a14:hiddenFill>
              </a:ext>
            </a:extLst>
          </p:spPr>
        </p:pic>
      </p:grpSp>
      <p:pic>
        <p:nvPicPr>
          <p:cNvPr id="30" name="Picture 29">
            <a:extLst>
              <a:ext uri="{FF2B5EF4-FFF2-40B4-BE49-F238E27FC236}">
                <a16:creationId xmlns:a16="http://schemas.microsoft.com/office/drawing/2014/main" id="{E580136B-7D12-3E64-5991-AB54581F138A}"/>
              </a:ext>
            </a:extLst>
          </p:cNvPr>
          <p:cNvPicPr>
            <a:picLocks noChangeAspect="1"/>
          </p:cNvPicPr>
          <p:nvPr/>
        </p:nvPicPr>
        <p:blipFill>
          <a:blip r:embed="rId7" cstate="screen">
            <a:extLst>
              <a:ext uri="{28A0092B-C50C-407E-A947-70E740481C1C}">
                <a14:useLocalDpi xmlns:a14="http://schemas.microsoft.com/office/drawing/2010/main" val="0"/>
              </a:ext>
            </a:extLst>
          </a:blip>
          <a:srcRect/>
          <a:stretch/>
        </p:blipFill>
        <p:spPr>
          <a:xfrm>
            <a:off x="3849184" y="5768282"/>
            <a:ext cx="394705" cy="473646"/>
          </a:xfrm>
          <a:prstGeom prst="rect">
            <a:avLst/>
          </a:prstGeom>
        </p:spPr>
      </p:pic>
      <p:grpSp>
        <p:nvGrpSpPr>
          <p:cNvPr id="56" name="Group 55">
            <a:extLst>
              <a:ext uri="{FF2B5EF4-FFF2-40B4-BE49-F238E27FC236}">
                <a16:creationId xmlns:a16="http://schemas.microsoft.com/office/drawing/2014/main" id="{645CC157-6E02-2C7E-D1A9-614590ED047A}"/>
              </a:ext>
            </a:extLst>
          </p:cNvPr>
          <p:cNvGrpSpPr/>
          <p:nvPr/>
        </p:nvGrpSpPr>
        <p:grpSpPr>
          <a:xfrm>
            <a:off x="6473446" y="2350602"/>
            <a:ext cx="5376630" cy="1961479"/>
            <a:chOff x="6179013" y="1332995"/>
            <a:chExt cx="5376630" cy="1961479"/>
          </a:xfrm>
        </p:grpSpPr>
        <p:grpSp>
          <p:nvGrpSpPr>
            <p:cNvPr id="36" name="Group 35">
              <a:extLst>
                <a:ext uri="{FF2B5EF4-FFF2-40B4-BE49-F238E27FC236}">
                  <a16:creationId xmlns:a16="http://schemas.microsoft.com/office/drawing/2014/main" id="{7318921D-AB88-CBCD-5EEA-55CDF477B62C}"/>
                </a:ext>
              </a:extLst>
            </p:cNvPr>
            <p:cNvGrpSpPr/>
            <p:nvPr/>
          </p:nvGrpSpPr>
          <p:grpSpPr>
            <a:xfrm>
              <a:off x="6179013" y="1673481"/>
              <a:ext cx="1585616" cy="1589656"/>
              <a:chOff x="7184197" y="1528505"/>
              <a:chExt cx="1585616" cy="1589656"/>
            </a:xfrm>
          </p:grpSpPr>
          <p:pic>
            <p:nvPicPr>
              <p:cNvPr id="22" name="Picture 21">
                <a:extLst>
                  <a:ext uri="{FF2B5EF4-FFF2-40B4-BE49-F238E27FC236}">
                    <a16:creationId xmlns:a16="http://schemas.microsoft.com/office/drawing/2014/main" id="{0A1C2A7A-5827-FFAC-2A00-C79684A3F79F}"/>
                  </a:ext>
                </a:extLst>
              </p:cNvPr>
              <p:cNvPicPr>
                <a:picLocks noChangeAspect="1"/>
              </p:cNvPicPr>
              <p:nvPr/>
            </p:nvPicPr>
            <p:blipFill>
              <a:blip r:embed="rId8" cstate="screen">
                <a:extLst>
                  <a:ext uri="{28A0092B-C50C-407E-A947-70E740481C1C}">
                    <a14:useLocalDpi xmlns:a14="http://schemas.microsoft.com/office/drawing/2010/main" val="0"/>
                  </a:ext>
                </a:extLst>
              </a:blip>
              <a:srcRect/>
              <a:stretch/>
            </p:blipFill>
            <p:spPr>
              <a:xfrm>
                <a:off x="7378996" y="1528505"/>
                <a:ext cx="1041070" cy="1053563"/>
              </a:xfrm>
              <a:prstGeom prst="rect">
                <a:avLst/>
              </a:prstGeom>
            </p:spPr>
          </p:pic>
          <p:sp>
            <p:nvSpPr>
              <p:cNvPr id="17" name="Object 12">
                <a:extLst>
                  <a:ext uri="{FF2B5EF4-FFF2-40B4-BE49-F238E27FC236}">
                    <a16:creationId xmlns:a16="http://schemas.microsoft.com/office/drawing/2014/main" id="{40AD5017-DE40-A1F4-8581-7266E54A1F25}"/>
                  </a:ext>
                </a:extLst>
              </p:cNvPr>
              <p:cNvSpPr/>
              <p:nvPr/>
            </p:nvSpPr>
            <p:spPr>
              <a:xfrm>
                <a:off x="7184198" y="2663408"/>
                <a:ext cx="1585615" cy="230403"/>
              </a:xfrm>
              <a:prstGeom prst="rect">
                <a:avLst/>
              </a:prstGeom>
              <a:noFill/>
            </p:spPr>
            <p:txBody>
              <a:bodyPr wrap="square" lIns="0" tIns="0" rIns="0" bIns="0" rtlCol="0" anchor="t"/>
              <a:lstStyle/>
              <a:p>
                <a:pPr algn="ctr">
                  <a:lnSpc>
                    <a:spcPts val="1814"/>
                  </a:lnSpc>
                  <a:buNone/>
                </a:pPr>
                <a:r>
                  <a:rPr lang="en-US" sz="900" dirty="0">
                    <a:solidFill>
                      <a:schemeClr val="bg1"/>
                    </a:solidFill>
                    <a:latin typeface="Montserrat" pitchFamily="34" charset="0"/>
                    <a:ea typeface="Montserrat" pitchFamily="34" charset="-122"/>
                    <a:cs typeface="Montserrat" pitchFamily="34" charset="-120"/>
                  </a:rPr>
                  <a:t>Roberta Marcenaro</a:t>
                </a:r>
                <a:endParaRPr lang="en-US" sz="900" dirty="0">
                  <a:solidFill>
                    <a:schemeClr val="bg1"/>
                  </a:solidFill>
                </a:endParaRPr>
              </a:p>
            </p:txBody>
          </p:sp>
          <p:sp>
            <p:nvSpPr>
              <p:cNvPr id="18" name="Object 13">
                <a:extLst>
                  <a:ext uri="{FF2B5EF4-FFF2-40B4-BE49-F238E27FC236}">
                    <a16:creationId xmlns:a16="http://schemas.microsoft.com/office/drawing/2014/main" id="{F755AC8C-0ECE-AB13-1DF4-C9C417438685}"/>
                  </a:ext>
                </a:extLst>
              </p:cNvPr>
              <p:cNvSpPr/>
              <p:nvPr/>
            </p:nvSpPr>
            <p:spPr>
              <a:xfrm>
                <a:off x="7184197" y="2919095"/>
                <a:ext cx="1585615" cy="199066"/>
              </a:xfrm>
              <a:prstGeom prst="rect">
                <a:avLst/>
              </a:prstGeom>
              <a:noFill/>
            </p:spPr>
            <p:txBody>
              <a:bodyPr wrap="square" lIns="0" tIns="0" rIns="0" bIns="0" rtlCol="0" anchor="t"/>
              <a:lstStyle/>
              <a:p>
                <a:pPr algn="ctr">
                  <a:spcBef>
                    <a:spcPts val="663"/>
                  </a:spcBef>
                </a:pPr>
                <a:r>
                  <a:rPr lang="en-US" sz="900" dirty="0">
                    <a:solidFill>
                      <a:schemeClr val="bg1">
                        <a:lumMod val="65000"/>
                      </a:schemeClr>
                    </a:solidFill>
                    <a:latin typeface="Montserrat"/>
                    <a:ea typeface="Montserrat" pitchFamily="34" charset="-122"/>
                    <a:cs typeface="Montserrat" pitchFamily="34" charset="-120"/>
                  </a:rPr>
                  <a:t>Chief Revenue Officer </a:t>
                </a:r>
              </a:p>
            </p:txBody>
          </p:sp>
        </p:grpSp>
        <p:grpSp>
          <p:nvGrpSpPr>
            <p:cNvPr id="32" name="Group 31">
              <a:extLst>
                <a:ext uri="{FF2B5EF4-FFF2-40B4-BE49-F238E27FC236}">
                  <a16:creationId xmlns:a16="http://schemas.microsoft.com/office/drawing/2014/main" id="{4B6DB0D8-165E-5A56-F898-D41F7DC92664}"/>
                </a:ext>
              </a:extLst>
            </p:cNvPr>
            <p:cNvGrpSpPr/>
            <p:nvPr/>
          </p:nvGrpSpPr>
          <p:grpSpPr>
            <a:xfrm>
              <a:off x="7746870" y="1680992"/>
              <a:ext cx="1100560" cy="1613482"/>
              <a:chOff x="6165695" y="1536016"/>
              <a:chExt cx="1100560" cy="1613482"/>
            </a:xfrm>
          </p:grpSpPr>
          <p:sp>
            <p:nvSpPr>
              <p:cNvPr id="19" name="Object 12">
                <a:extLst>
                  <a:ext uri="{FF2B5EF4-FFF2-40B4-BE49-F238E27FC236}">
                    <a16:creationId xmlns:a16="http://schemas.microsoft.com/office/drawing/2014/main" id="{6659966C-ED13-DB90-2539-3832DD063CE2}"/>
                  </a:ext>
                </a:extLst>
              </p:cNvPr>
              <p:cNvSpPr/>
              <p:nvPr/>
            </p:nvSpPr>
            <p:spPr>
              <a:xfrm>
                <a:off x="6183455" y="2664534"/>
                <a:ext cx="1041070" cy="230403"/>
              </a:xfrm>
              <a:prstGeom prst="rect">
                <a:avLst/>
              </a:prstGeom>
              <a:noFill/>
            </p:spPr>
            <p:txBody>
              <a:bodyPr wrap="square" lIns="0" tIns="0" rIns="0" bIns="0" rtlCol="0" anchor="t"/>
              <a:lstStyle/>
              <a:p>
                <a:pPr algn="ctr">
                  <a:lnSpc>
                    <a:spcPts val="1814"/>
                  </a:lnSpc>
                  <a:buNone/>
                </a:pPr>
                <a:r>
                  <a:rPr lang="en-US" sz="900" dirty="0">
                    <a:solidFill>
                      <a:schemeClr val="bg1"/>
                    </a:solidFill>
                    <a:latin typeface="Montserrat" pitchFamily="34" charset="0"/>
                  </a:rPr>
                  <a:t>(TBH)</a:t>
                </a:r>
                <a:endParaRPr lang="en-US" sz="1050" dirty="0">
                  <a:solidFill>
                    <a:schemeClr val="bg1"/>
                  </a:solidFill>
                </a:endParaRPr>
              </a:p>
            </p:txBody>
          </p:sp>
          <p:sp>
            <p:nvSpPr>
              <p:cNvPr id="20" name="Object 13">
                <a:extLst>
                  <a:ext uri="{FF2B5EF4-FFF2-40B4-BE49-F238E27FC236}">
                    <a16:creationId xmlns:a16="http://schemas.microsoft.com/office/drawing/2014/main" id="{42E2838E-4B1B-3CD5-D06A-838DAE02768F}"/>
                  </a:ext>
                </a:extLst>
              </p:cNvPr>
              <p:cNvSpPr/>
              <p:nvPr/>
            </p:nvSpPr>
            <p:spPr>
              <a:xfrm>
                <a:off x="6183454" y="2919095"/>
                <a:ext cx="1082801" cy="230403"/>
              </a:xfrm>
              <a:prstGeom prst="rect">
                <a:avLst/>
              </a:prstGeom>
              <a:noFill/>
            </p:spPr>
            <p:txBody>
              <a:bodyPr wrap="square" lIns="0" tIns="0" rIns="0" bIns="0" rtlCol="0" anchor="t"/>
              <a:lstStyle/>
              <a:p>
                <a:pPr algn="ctr">
                  <a:spcBef>
                    <a:spcPts val="663"/>
                  </a:spcBef>
                  <a:buNone/>
                </a:pPr>
                <a:r>
                  <a:rPr lang="en-US" sz="900" dirty="0">
                    <a:solidFill>
                      <a:schemeClr val="bg1">
                        <a:lumMod val="65000"/>
                      </a:schemeClr>
                    </a:solidFill>
                    <a:latin typeface="Montserrat" pitchFamily="34" charset="0"/>
                    <a:ea typeface="Montserrat" pitchFamily="34" charset="-122"/>
                    <a:cs typeface="Montserrat" pitchFamily="34" charset="-120"/>
                  </a:rPr>
                  <a:t>VP Engineering</a:t>
                </a:r>
              </a:p>
            </p:txBody>
          </p:sp>
          <p:grpSp>
            <p:nvGrpSpPr>
              <p:cNvPr id="23" name="Group 22">
                <a:extLst>
                  <a:ext uri="{FF2B5EF4-FFF2-40B4-BE49-F238E27FC236}">
                    <a16:creationId xmlns:a16="http://schemas.microsoft.com/office/drawing/2014/main" id="{BC0D36DD-20D9-E20C-DA1F-E9E0B08C7E20}"/>
                  </a:ext>
                </a:extLst>
              </p:cNvPr>
              <p:cNvGrpSpPr/>
              <p:nvPr/>
            </p:nvGrpSpPr>
            <p:grpSpPr>
              <a:xfrm>
                <a:off x="6165695" y="1536016"/>
                <a:ext cx="1058829" cy="1058829"/>
                <a:chOff x="6104593" y="1536016"/>
                <a:chExt cx="2380654" cy="2380654"/>
              </a:xfrm>
            </p:grpSpPr>
            <p:sp>
              <p:nvSpPr>
                <p:cNvPr id="15" name="Rectangle 14">
                  <a:extLst>
                    <a:ext uri="{FF2B5EF4-FFF2-40B4-BE49-F238E27FC236}">
                      <a16:creationId xmlns:a16="http://schemas.microsoft.com/office/drawing/2014/main" id="{3E1CFF22-E928-D0DD-CF48-8951171A1595}"/>
                    </a:ext>
                  </a:extLst>
                </p:cNvPr>
                <p:cNvSpPr/>
                <p:nvPr/>
              </p:nvSpPr>
              <p:spPr>
                <a:xfrm>
                  <a:off x="6104593" y="1536016"/>
                  <a:ext cx="2380654" cy="2380654"/>
                </a:xfrm>
                <a:prstGeom prst="rect">
                  <a:avLst/>
                </a:prstGeom>
                <a:solidFill>
                  <a:schemeClr val="tx1">
                    <a:lumMod val="85000"/>
                    <a:lumOff val="15000"/>
                  </a:schemeClr>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66B2F65-BB8E-0AD9-79C1-10E9750C06D6}"/>
                    </a:ext>
                  </a:extLst>
                </p:cNvPr>
                <p:cNvPicPr>
                  <a:picLocks noChangeAspect="1"/>
                </p:cNvPicPr>
                <p:nvPr/>
              </p:nvPicPr>
              <p:blipFill rotWithShape="1">
                <a:blip r:embed="rId9"/>
                <a:srcRect b="11501"/>
                <a:stretch/>
              </p:blipFill>
              <p:spPr>
                <a:xfrm>
                  <a:off x="6144522" y="1802564"/>
                  <a:ext cx="2340725" cy="2112581"/>
                </a:xfrm>
                <a:prstGeom prst="rect">
                  <a:avLst/>
                </a:prstGeom>
              </p:spPr>
            </p:pic>
          </p:grpSp>
        </p:grpSp>
        <p:grpSp>
          <p:nvGrpSpPr>
            <p:cNvPr id="37" name="Group 36">
              <a:extLst>
                <a:ext uri="{FF2B5EF4-FFF2-40B4-BE49-F238E27FC236}">
                  <a16:creationId xmlns:a16="http://schemas.microsoft.com/office/drawing/2014/main" id="{D3B0B272-78E9-A5F7-0930-61BBB439CF71}"/>
                </a:ext>
              </a:extLst>
            </p:cNvPr>
            <p:cNvGrpSpPr/>
            <p:nvPr/>
          </p:nvGrpSpPr>
          <p:grpSpPr>
            <a:xfrm>
              <a:off x="9120255" y="1680992"/>
              <a:ext cx="1191289" cy="1523544"/>
              <a:chOff x="6214640" y="1536016"/>
              <a:chExt cx="1191289" cy="1523544"/>
            </a:xfrm>
          </p:grpSpPr>
          <p:sp>
            <p:nvSpPr>
              <p:cNvPr id="38" name="Object 12">
                <a:extLst>
                  <a:ext uri="{FF2B5EF4-FFF2-40B4-BE49-F238E27FC236}">
                    <a16:creationId xmlns:a16="http://schemas.microsoft.com/office/drawing/2014/main" id="{B5D5CDB3-D459-EA38-49BC-AFEF2C2407F8}"/>
                  </a:ext>
                </a:extLst>
              </p:cNvPr>
              <p:cNvSpPr/>
              <p:nvPr/>
            </p:nvSpPr>
            <p:spPr>
              <a:xfrm>
                <a:off x="6232400" y="2664534"/>
                <a:ext cx="1041070" cy="230403"/>
              </a:xfrm>
              <a:prstGeom prst="rect">
                <a:avLst/>
              </a:prstGeom>
              <a:noFill/>
            </p:spPr>
            <p:txBody>
              <a:bodyPr wrap="square" lIns="0" tIns="0" rIns="0" bIns="0" rtlCol="0" anchor="t"/>
              <a:lstStyle/>
              <a:p>
                <a:pPr algn="ctr">
                  <a:lnSpc>
                    <a:spcPts val="1814"/>
                  </a:lnSpc>
                  <a:buNone/>
                </a:pPr>
                <a:r>
                  <a:rPr lang="en-US" sz="900" dirty="0">
                    <a:solidFill>
                      <a:schemeClr val="bg1"/>
                    </a:solidFill>
                    <a:latin typeface="Montserrat" pitchFamily="34" charset="0"/>
                  </a:rPr>
                  <a:t>(TBH)</a:t>
                </a:r>
                <a:endParaRPr lang="en-US" sz="1050" dirty="0">
                  <a:solidFill>
                    <a:schemeClr val="bg1"/>
                  </a:solidFill>
                </a:endParaRPr>
              </a:p>
            </p:txBody>
          </p:sp>
          <p:sp>
            <p:nvSpPr>
              <p:cNvPr id="39" name="Object 13">
                <a:extLst>
                  <a:ext uri="{FF2B5EF4-FFF2-40B4-BE49-F238E27FC236}">
                    <a16:creationId xmlns:a16="http://schemas.microsoft.com/office/drawing/2014/main" id="{A0825293-31BD-262A-98E1-68888CDFE0F9}"/>
                  </a:ext>
                </a:extLst>
              </p:cNvPr>
              <p:cNvSpPr/>
              <p:nvPr/>
            </p:nvSpPr>
            <p:spPr>
              <a:xfrm>
                <a:off x="6232399" y="2919095"/>
                <a:ext cx="1173530" cy="140465"/>
              </a:xfrm>
              <a:prstGeom prst="rect">
                <a:avLst/>
              </a:prstGeom>
              <a:noFill/>
            </p:spPr>
            <p:txBody>
              <a:bodyPr wrap="square" lIns="0" tIns="0" rIns="0" bIns="0" rtlCol="0" anchor="t"/>
              <a:lstStyle/>
              <a:p>
                <a:pPr algn="ctr">
                  <a:spcBef>
                    <a:spcPts val="663"/>
                  </a:spcBef>
                  <a:buNone/>
                </a:pPr>
                <a:r>
                  <a:rPr lang="en-US" sz="900" dirty="0">
                    <a:solidFill>
                      <a:schemeClr val="bg1">
                        <a:lumMod val="65000"/>
                      </a:schemeClr>
                    </a:solidFill>
                    <a:latin typeface="Montserrat" pitchFamily="34" charset="0"/>
                    <a:ea typeface="Montserrat" pitchFamily="34" charset="-122"/>
                    <a:cs typeface="Montserrat" pitchFamily="34" charset="-120"/>
                  </a:rPr>
                  <a:t>Dev / Data Scientist</a:t>
                </a:r>
              </a:p>
            </p:txBody>
          </p:sp>
          <p:grpSp>
            <p:nvGrpSpPr>
              <p:cNvPr id="40" name="Group 39">
                <a:extLst>
                  <a:ext uri="{FF2B5EF4-FFF2-40B4-BE49-F238E27FC236}">
                    <a16:creationId xmlns:a16="http://schemas.microsoft.com/office/drawing/2014/main" id="{82EBE874-71AF-C451-9450-D8F64740D5FB}"/>
                  </a:ext>
                </a:extLst>
              </p:cNvPr>
              <p:cNvGrpSpPr/>
              <p:nvPr/>
            </p:nvGrpSpPr>
            <p:grpSpPr>
              <a:xfrm>
                <a:off x="6214640" y="1536016"/>
                <a:ext cx="1058829" cy="1058829"/>
                <a:chOff x="6214640" y="1536016"/>
                <a:chExt cx="2380654" cy="2380654"/>
              </a:xfrm>
            </p:grpSpPr>
            <p:sp>
              <p:nvSpPr>
                <p:cNvPr id="41" name="Rectangle 40">
                  <a:extLst>
                    <a:ext uri="{FF2B5EF4-FFF2-40B4-BE49-F238E27FC236}">
                      <a16:creationId xmlns:a16="http://schemas.microsoft.com/office/drawing/2014/main" id="{67E63BB3-94E9-0B57-D2BC-E13A219559CC}"/>
                    </a:ext>
                  </a:extLst>
                </p:cNvPr>
                <p:cNvSpPr/>
                <p:nvPr/>
              </p:nvSpPr>
              <p:spPr>
                <a:xfrm>
                  <a:off x="6214640" y="1536016"/>
                  <a:ext cx="2380654" cy="2380654"/>
                </a:xfrm>
                <a:prstGeom prst="rect">
                  <a:avLst/>
                </a:prstGeom>
                <a:solidFill>
                  <a:schemeClr val="tx1">
                    <a:lumMod val="85000"/>
                    <a:lumOff val="15000"/>
                  </a:schemeClr>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67A349CF-503A-7F4C-5762-172B5FF04E21}"/>
                    </a:ext>
                  </a:extLst>
                </p:cNvPr>
                <p:cNvPicPr>
                  <a:picLocks noChangeAspect="1"/>
                </p:cNvPicPr>
                <p:nvPr/>
              </p:nvPicPr>
              <p:blipFill rotWithShape="1">
                <a:blip r:embed="rId9"/>
                <a:srcRect b="11501"/>
                <a:stretch/>
              </p:blipFill>
              <p:spPr>
                <a:xfrm>
                  <a:off x="6254570" y="1802565"/>
                  <a:ext cx="2340724" cy="2112582"/>
                </a:xfrm>
                <a:prstGeom prst="rect">
                  <a:avLst/>
                </a:prstGeom>
              </p:spPr>
            </p:pic>
          </p:grpSp>
        </p:grpSp>
        <p:grpSp>
          <p:nvGrpSpPr>
            <p:cNvPr id="43" name="Group 42">
              <a:extLst>
                <a:ext uri="{FF2B5EF4-FFF2-40B4-BE49-F238E27FC236}">
                  <a16:creationId xmlns:a16="http://schemas.microsoft.com/office/drawing/2014/main" id="{848EBAE1-32C1-AD0B-1423-D6B39DFCD55F}"/>
                </a:ext>
              </a:extLst>
            </p:cNvPr>
            <p:cNvGrpSpPr/>
            <p:nvPr/>
          </p:nvGrpSpPr>
          <p:grpSpPr>
            <a:xfrm>
              <a:off x="10455083" y="1680992"/>
              <a:ext cx="1100560" cy="1482044"/>
              <a:chOff x="6214640" y="1536016"/>
              <a:chExt cx="1100560" cy="1482044"/>
            </a:xfrm>
          </p:grpSpPr>
          <p:sp>
            <p:nvSpPr>
              <p:cNvPr id="44" name="Object 12">
                <a:extLst>
                  <a:ext uri="{FF2B5EF4-FFF2-40B4-BE49-F238E27FC236}">
                    <a16:creationId xmlns:a16="http://schemas.microsoft.com/office/drawing/2014/main" id="{CF5E3900-41C5-CE73-24AA-6A00DE60B8CC}"/>
                  </a:ext>
                </a:extLst>
              </p:cNvPr>
              <p:cNvSpPr/>
              <p:nvPr/>
            </p:nvSpPr>
            <p:spPr>
              <a:xfrm>
                <a:off x="6232400" y="2664534"/>
                <a:ext cx="1041070" cy="230403"/>
              </a:xfrm>
              <a:prstGeom prst="rect">
                <a:avLst/>
              </a:prstGeom>
              <a:noFill/>
            </p:spPr>
            <p:txBody>
              <a:bodyPr wrap="square" lIns="0" tIns="0" rIns="0" bIns="0" rtlCol="0" anchor="t"/>
              <a:lstStyle/>
              <a:p>
                <a:pPr algn="ctr">
                  <a:lnSpc>
                    <a:spcPts val="1814"/>
                  </a:lnSpc>
                  <a:buNone/>
                </a:pPr>
                <a:r>
                  <a:rPr lang="en-US" sz="900" dirty="0">
                    <a:solidFill>
                      <a:schemeClr val="bg1"/>
                    </a:solidFill>
                    <a:latin typeface="Montserrat" pitchFamily="34" charset="0"/>
                  </a:rPr>
                  <a:t>(TBH)</a:t>
                </a:r>
                <a:endParaRPr lang="en-US" sz="1050" dirty="0">
                  <a:solidFill>
                    <a:schemeClr val="bg1"/>
                  </a:solidFill>
                </a:endParaRPr>
              </a:p>
            </p:txBody>
          </p:sp>
          <p:sp>
            <p:nvSpPr>
              <p:cNvPr id="45" name="Object 13">
                <a:extLst>
                  <a:ext uri="{FF2B5EF4-FFF2-40B4-BE49-F238E27FC236}">
                    <a16:creationId xmlns:a16="http://schemas.microsoft.com/office/drawing/2014/main" id="{F414AFE4-1915-62B0-96EF-5006F51DF2BC}"/>
                  </a:ext>
                </a:extLst>
              </p:cNvPr>
              <p:cNvSpPr/>
              <p:nvPr/>
            </p:nvSpPr>
            <p:spPr>
              <a:xfrm>
                <a:off x="6232399" y="2919095"/>
                <a:ext cx="1082801" cy="98965"/>
              </a:xfrm>
              <a:prstGeom prst="rect">
                <a:avLst/>
              </a:prstGeom>
              <a:noFill/>
            </p:spPr>
            <p:txBody>
              <a:bodyPr wrap="square" lIns="0" tIns="0" rIns="0" bIns="0" rtlCol="0" anchor="t"/>
              <a:lstStyle/>
              <a:p>
                <a:pPr algn="ctr">
                  <a:spcBef>
                    <a:spcPts val="663"/>
                  </a:spcBef>
                  <a:buNone/>
                </a:pPr>
                <a:r>
                  <a:rPr lang="en-US" sz="900" dirty="0">
                    <a:solidFill>
                      <a:schemeClr val="bg1">
                        <a:lumMod val="65000"/>
                      </a:schemeClr>
                    </a:solidFill>
                    <a:latin typeface="Montserrat" pitchFamily="34" charset="0"/>
                    <a:ea typeface="Montserrat" pitchFamily="34" charset="-122"/>
                    <a:cs typeface="Montserrat" pitchFamily="34" charset="-120"/>
                  </a:rPr>
                  <a:t>Field Engineer</a:t>
                </a:r>
              </a:p>
            </p:txBody>
          </p:sp>
          <p:grpSp>
            <p:nvGrpSpPr>
              <p:cNvPr id="46" name="Group 45">
                <a:extLst>
                  <a:ext uri="{FF2B5EF4-FFF2-40B4-BE49-F238E27FC236}">
                    <a16:creationId xmlns:a16="http://schemas.microsoft.com/office/drawing/2014/main" id="{EF3FA83E-B899-B215-379E-B48D92D94977}"/>
                  </a:ext>
                </a:extLst>
              </p:cNvPr>
              <p:cNvGrpSpPr/>
              <p:nvPr/>
            </p:nvGrpSpPr>
            <p:grpSpPr>
              <a:xfrm>
                <a:off x="6214640" y="1536016"/>
                <a:ext cx="1058829" cy="1058829"/>
                <a:chOff x="6214640" y="1536016"/>
                <a:chExt cx="2380654" cy="2380654"/>
              </a:xfrm>
            </p:grpSpPr>
            <p:sp>
              <p:nvSpPr>
                <p:cNvPr id="47" name="Rectangle 46">
                  <a:extLst>
                    <a:ext uri="{FF2B5EF4-FFF2-40B4-BE49-F238E27FC236}">
                      <a16:creationId xmlns:a16="http://schemas.microsoft.com/office/drawing/2014/main" id="{EED42BDB-E680-D8D4-EEAA-C4B16D94E3F6}"/>
                    </a:ext>
                  </a:extLst>
                </p:cNvPr>
                <p:cNvSpPr/>
                <p:nvPr/>
              </p:nvSpPr>
              <p:spPr>
                <a:xfrm>
                  <a:off x="6214640" y="1536016"/>
                  <a:ext cx="2380654" cy="2380654"/>
                </a:xfrm>
                <a:prstGeom prst="rect">
                  <a:avLst/>
                </a:prstGeom>
                <a:solidFill>
                  <a:schemeClr val="tx1">
                    <a:lumMod val="85000"/>
                    <a:lumOff val="15000"/>
                  </a:schemeClr>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4E9AFDD5-3A43-9371-BAAD-8CC51BC71937}"/>
                    </a:ext>
                  </a:extLst>
                </p:cNvPr>
                <p:cNvPicPr>
                  <a:picLocks noChangeAspect="1"/>
                </p:cNvPicPr>
                <p:nvPr/>
              </p:nvPicPr>
              <p:blipFill rotWithShape="1">
                <a:blip r:embed="rId9"/>
                <a:srcRect b="11501"/>
                <a:stretch/>
              </p:blipFill>
              <p:spPr>
                <a:xfrm>
                  <a:off x="6254570" y="1802565"/>
                  <a:ext cx="2340724" cy="2112582"/>
                </a:xfrm>
                <a:prstGeom prst="rect">
                  <a:avLst/>
                </a:prstGeom>
              </p:spPr>
            </p:pic>
          </p:grpSp>
        </p:grpSp>
        <p:sp>
          <p:nvSpPr>
            <p:cNvPr id="55" name="Object 13">
              <a:extLst>
                <a:ext uri="{FF2B5EF4-FFF2-40B4-BE49-F238E27FC236}">
                  <a16:creationId xmlns:a16="http://schemas.microsoft.com/office/drawing/2014/main" id="{A42985F5-FFA9-9EB9-AD05-13B7F9B97F28}"/>
                </a:ext>
              </a:extLst>
            </p:cNvPr>
            <p:cNvSpPr/>
            <p:nvPr/>
          </p:nvSpPr>
          <p:spPr>
            <a:xfrm>
              <a:off x="6284974" y="1332995"/>
              <a:ext cx="2697282" cy="270797"/>
            </a:xfrm>
            <a:prstGeom prst="rect">
              <a:avLst/>
            </a:prstGeom>
            <a:noFill/>
          </p:spPr>
          <p:txBody>
            <a:bodyPr wrap="square" lIns="0" tIns="0" rIns="0" bIns="0" rtlCol="0" anchor="t"/>
            <a:lstStyle/>
            <a:p>
              <a:pPr>
                <a:buNone/>
              </a:pPr>
              <a:r>
                <a:rPr lang="en-US" sz="1200" b="1" dirty="0">
                  <a:solidFill>
                    <a:schemeClr val="bg1"/>
                  </a:solidFill>
                  <a:latin typeface="Montserrat" pitchFamily="34" charset="0"/>
                  <a:ea typeface="Montserrat" pitchFamily="34" charset="-122"/>
                  <a:cs typeface="Montserrat" pitchFamily="34" charset="-120"/>
                </a:rPr>
                <a:t>Key Initial Hires</a:t>
              </a:r>
            </a:p>
          </p:txBody>
        </p:sp>
      </p:grpSp>
      <p:cxnSp>
        <p:nvCxnSpPr>
          <p:cNvPr id="59" name="Straight Connector 58">
            <a:extLst>
              <a:ext uri="{FF2B5EF4-FFF2-40B4-BE49-F238E27FC236}">
                <a16:creationId xmlns:a16="http://schemas.microsoft.com/office/drawing/2014/main" id="{C6C82117-BBD3-928B-A82A-24E6126EFC2C}"/>
              </a:ext>
            </a:extLst>
          </p:cNvPr>
          <p:cNvCxnSpPr>
            <a:cxnSpLocks/>
          </p:cNvCxnSpPr>
          <p:nvPr/>
        </p:nvCxnSpPr>
        <p:spPr>
          <a:xfrm>
            <a:off x="6257261" y="1573619"/>
            <a:ext cx="0" cy="4796412"/>
          </a:xfrm>
          <a:prstGeom prst="line">
            <a:avLst/>
          </a:prstGeom>
          <a:ln w="3175">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A2509C73-B492-C90C-7939-F42F12583F2E}"/>
              </a:ext>
            </a:extLst>
          </p:cNvPr>
          <p:cNvSpPr txBox="1"/>
          <p:nvPr/>
        </p:nvSpPr>
        <p:spPr>
          <a:xfrm>
            <a:off x="334927" y="198819"/>
            <a:ext cx="6138520" cy="646331"/>
          </a:xfrm>
          <a:prstGeom prst="rect">
            <a:avLst/>
          </a:prstGeom>
          <a:noFill/>
        </p:spPr>
        <p:txBody>
          <a:bodyPr wrap="square" rtlCol="0">
            <a:spAutoFit/>
          </a:bodyPr>
          <a:lstStyle/>
          <a:p>
            <a:r>
              <a:rPr lang="en-US" sz="3600" spc="-150" dirty="0">
                <a:solidFill>
                  <a:schemeClr val="bg1"/>
                </a:solidFill>
                <a:latin typeface="Segoe UI Semibold" panose="020B0702040204020203" pitchFamily="34" charset="0"/>
                <a:cs typeface="Segoe UI Semibold" panose="020B0702040204020203" pitchFamily="34" charset="0"/>
              </a:rPr>
              <a:t>The Team</a:t>
            </a:r>
            <a:endParaRPr lang="en-US" sz="900" spc="-150" dirty="0">
              <a:solidFill>
                <a:schemeClr val="bg1"/>
              </a:solidFill>
              <a:latin typeface="Segoe UI" panose="020B0502040204020203" pitchFamily="34" charset="0"/>
              <a:cs typeface="Segoe UI" panose="020B0502040204020203" pitchFamily="34" charset="0"/>
            </a:endParaRPr>
          </a:p>
        </p:txBody>
      </p:sp>
      <p:sp>
        <p:nvSpPr>
          <p:cNvPr id="63" name="Rectangle 62">
            <a:extLst>
              <a:ext uri="{FF2B5EF4-FFF2-40B4-BE49-F238E27FC236}">
                <a16:creationId xmlns:a16="http://schemas.microsoft.com/office/drawing/2014/main" id="{59D999F7-D870-9363-1554-D33D7989BFD1}"/>
              </a:ext>
            </a:extLst>
          </p:cNvPr>
          <p:cNvSpPr/>
          <p:nvPr/>
        </p:nvSpPr>
        <p:spPr>
          <a:xfrm>
            <a:off x="6397140" y="4901522"/>
            <a:ext cx="5551082" cy="556974"/>
          </a:xfrm>
          <a:prstGeom prst="rect">
            <a:avLst/>
          </a:prstGeom>
          <a:noFill/>
          <a:ln w="3175">
            <a:solidFill>
              <a:srgbClr val="8CE2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dirty="0">
                <a:latin typeface="Montserrat" panose="00000500000000000000" pitchFamily="2" charset="0"/>
              </a:rPr>
              <a:t>Plan is to keep the team </a:t>
            </a:r>
            <a:r>
              <a:rPr lang="en-US" sz="1400" i="1" dirty="0">
                <a:solidFill>
                  <a:srgbClr val="FFC000"/>
                </a:solidFill>
                <a:latin typeface="Montserrat" panose="00000500000000000000" pitchFamily="2" charset="0"/>
              </a:rPr>
              <a:t>lean</a:t>
            </a:r>
            <a:r>
              <a:rPr lang="en-US" sz="1400" i="1" dirty="0">
                <a:latin typeface="Montserrat" panose="00000500000000000000" pitchFamily="2" charset="0"/>
              </a:rPr>
              <a:t>; augment with </a:t>
            </a:r>
            <a:r>
              <a:rPr lang="en-US" sz="1400" i="1" dirty="0">
                <a:solidFill>
                  <a:srgbClr val="FFC000"/>
                </a:solidFill>
                <a:latin typeface="Montserrat" panose="00000500000000000000" pitchFamily="2" charset="0"/>
              </a:rPr>
              <a:t>AI Agents</a:t>
            </a:r>
          </a:p>
        </p:txBody>
      </p:sp>
      <p:sp>
        <p:nvSpPr>
          <p:cNvPr id="21" name="TextBox 20">
            <a:extLst>
              <a:ext uri="{FF2B5EF4-FFF2-40B4-BE49-F238E27FC236}">
                <a16:creationId xmlns:a16="http://schemas.microsoft.com/office/drawing/2014/main" id="{A68960EE-D731-77F0-A919-CD42EAD19967}"/>
              </a:ext>
            </a:extLst>
          </p:cNvPr>
          <p:cNvSpPr txBox="1"/>
          <p:nvPr/>
        </p:nvSpPr>
        <p:spPr>
          <a:xfrm>
            <a:off x="6495286" y="1206597"/>
            <a:ext cx="5354790" cy="1015663"/>
          </a:xfrm>
          <a:prstGeom prst="rect">
            <a:avLst/>
          </a:prstGeom>
          <a:noFill/>
        </p:spPr>
        <p:txBody>
          <a:bodyPr wrap="square">
            <a:spAutoFit/>
          </a:bodyPr>
          <a:lstStyle/>
          <a:p>
            <a:r>
              <a:rPr lang="en-US" sz="1200" b="1" i="1" dirty="0">
                <a:solidFill>
                  <a:schemeClr val="bg1"/>
                </a:solidFill>
                <a:latin typeface="Segoe UI" panose="020B0502040204020203" pitchFamily="34" charset="0"/>
                <a:cs typeface="Segoe UI" panose="020B0502040204020203" pitchFamily="34" charset="0"/>
              </a:rPr>
              <a:t>Mike Pell </a:t>
            </a:r>
            <a:r>
              <a:rPr lang="en-US" sz="1200" i="1" dirty="0">
                <a:solidFill>
                  <a:schemeClr val="bg1">
                    <a:lumMod val="85000"/>
                  </a:schemeClr>
                </a:solidFill>
                <a:latin typeface="Segoe UI" panose="020B0502040204020203" pitchFamily="34" charset="0"/>
                <a:cs typeface="Segoe UI" panose="020B0502040204020203" pitchFamily="34" charset="0"/>
              </a:rPr>
              <a:t>is a visionary founder with a rare blend of deep technical mastery and proven innovation leadership, who combines world-class design and leading-edge technology experience with a highly successful execution track record that de-risks this early-stage investment while unlocking an untapped, high-margin opportunity in this new AI-driven business simulation space.</a:t>
            </a:r>
          </a:p>
        </p:txBody>
      </p:sp>
      <p:pic>
        <p:nvPicPr>
          <p:cNvPr id="25" name="Picture 24">
            <a:extLst>
              <a:ext uri="{FF2B5EF4-FFF2-40B4-BE49-F238E27FC236}">
                <a16:creationId xmlns:a16="http://schemas.microsoft.com/office/drawing/2014/main" id="{019AF194-E6F7-B3A8-BB86-B3FAAED33616}"/>
              </a:ext>
            </a:extLst>
          </p:cNvPr>
          <p:cNvPicPr>
            <a:picLocks noChangeAspect="1"/>
          </p:cNvPicPr>
          <p:nvPr/>
        </p:nvPicPr>
        <p:blipFill>
          <a:blip r:embed="rId10">
            <a:extLst>
              <a:ext uri="{28A0092B-C50C-407E-A947-70E740481C1C}">
                <a14:useLocalDpi xmlns:a14="http://schemas.microsoft.com/office/drawing/2010/main" val="0"/>
              </a:ext>
            </a:extLst>
          </a:blip>
          <a:srcRect l="-2906" r="-2884"/>
          <a:stretch>
            <a:fillRect/>
          </a:stretch>
        </p:blipFill>
        <p:spPr>
          <a:xfrm>
            <a:off x="9726065" y="6502266"/>
            <a:ext cx="2124011" cy="232895"/>
          </a:xfrm>
          <a:prstGeom prst="rect">
            <a:avLst/>
          </a:prstGeom>
        </p:spPr>
      </p:pic>
    </p:spTree>
    <p:extLst>
      <p:ext uri="{BB962C8B-B14F-4D97-AF65-F5344CB8AC3E}">
        <p14:creationId xmlns:p14="http://schemas.microsoft.com/office/powerpoint/2010/main" val="3776517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9F44591-F4C2-8052-1B49-1B19B59C4D1C}"/>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3DABFB27-2DD0-F5C1-3BF4-EE5636A3A620}"/>
              </a:ext>
            </a:extLst>
          </p:cNvPr>
          <p:cNvGrpSpPr/>
          <p:nvPr/>
        </p:nvGrpSpPr>
        <p:grpSpPr>
          <a:xfrm>
            <a:off x="4444447" y="272235"/>
            <a:ext cx="6934201" cy="6313530"/>
            <a:chOff x="2606487" y="181361"/>
            <a:chExt cx="6934201" cy="6313530"/>
          </a:xfrm>
          <a:solidFill>
            <a:schemeClr val="tx1">
              <a:lumMod val="85000"/>
              <a:lumOff val="15000"/>
            </a:schemeClr>
          </a:solidFill>
        </p:grpSpPr>
        <p:sp>
          <p:nvSpPr>
            <p:cNvPr id="4" name="Rectangle 3">
              <a:extLst>
                <a:ext uri="{FF2B5EF4-FFF2-40B4-BE49-F238E27FC236}">
                  <a16:creationId xmlns:a16="http://schemas.microsoft.com/office/drawing/2014/main" id="{255510DA-6705-9CCD-785E-9EC15571D58A}"/>
                </a:ext>
              </a:extLst>
            </p:cNvPr>
            <p:cNvSpPr/>
            <p:nvPr/>
          </p:nvSpPr>
          <p:spPr>
            <a:xfrm>
              <a:off x="2606488" y="779929"/>
              <a:ext cx="1313330" cy="4482352"/>
            </a:xfrm>
            <a:prstGeom prst="rect">
              <a:avLst/>
            </a:prstGeom>
            <a:grp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dirty="0">
                  <a:solidFill>
                    <a:srgbClr val="FFC000"/>
                  </a:solidFill>
                  <a:latin typeface="Segoe UI" panose="020B0502040204020203" pitchFamily="34" charset="0"/>
                  <a:cs typeface="Segoe UI" panose="020B0502040204020203" pitchFamily="34" charset="0"/>
                </a:rPr>
                <a:t>Key Partners</a:t>
              </a:r>
              <a:br>
                <a:rPr lang="en-US" sz="800" b="1" dirty="0">
                  <a:solidFill>
                    <a:srgbClr val="FFC000"/>
                  </a:solidFill>
                  <a:latin typeface="Segoe UI" panose="020B0502040204020203" pitchFamily="34" charset="0"/>
                  <a:cs typeface="Segoe UI" panose="020B0502040204020203" pitchFamily="34" charset="0"/>
                </a:rPr>
              </a:br>
              <a:endParaRPr lang="en-US" sz="800" b="1" dirty="0">
                <a:solidFill>
                  <a:srgbClr val="FFC000"/>
                </a:solidFill>
                <a:latin typeface="Segoe UI" panose="020B0502040204020203" pitchFamily="34" charset="0"/>
                <a:cs typeface="Segoe UI" panose="020B0502040204020203" pitchFamily="34" charset="0"/>
              </a:endParaRP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Microsoft</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NVIDIA</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OpenAI</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JPMorgan</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Nasdaq</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Accenture</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Adobe</a:t>
              </a:r>
            </a:p>
          </p:txBody>
        </p:sp>
        <p:sp>
          <p:nvSpPr>
            <p:cNvPr id="6" name="Rectangle 5">
              <a:extLst>
                <a:ext uri="{FF2B5EF4-FFF2-40B4-BE49-F238E27FC236}">
                  <a16:creationId xmlns:a16="http://schemas.microsoft.com/office/drawing/2014/main" id="{97BDD76C-2EC6-9F31-50A0-7B6DE4FD3140}"/>
                </a:ext>
              </a:extLst>
            </p:cNvPr>
            <p:cNvSpPr/>
            <p:nvPr/>
          </p:nvSpPr>
          <p:spPr>
            <a:xfrm>
              <a:off x="4022912" y="779929"/>
              <a:ext cx="1313330" cy="2205317"/>
            </a:xfrm>
            <a:prstGeom prst="rect">
              <a:avLst/>
            </a:prstGeom>
            <a:grp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i="0" dirty="0">
                  <a:solidFill>
                    <a:srgbClr val="FFC000"/>
                  </a:solidFill>
                  <a:effectLst/>
                  <a:latin typeface="Segoe UI" panose="020B0502040204020203" pitchFamily="34" charset="0"/>
                  <a:cs typeface="Segoe UI" panose="020B0502040204020203" pitchFamily="34" charset="0"/>
                </a:rPr>
                <a:t>Key Activities</a:t>
              </a:r>
              <a:br>
                <a:rPr lang="en-US" sz="800" b="1" i="0" dirty="0">
                  <a:solidFill>
                    <a:srgbClr val="FFC000"/>
                  </a:solidFill>
                  <a:effectLst/>
                  <a:latin typeface="Segoe UI" panose="020B0502040204020203" pitchFamily="34" charset="0"/>
                  <a:cs typeface="Segoe UI" panose="020B0502040204020203" pitchFamily="34" charset="0"/>
                </a:rPr>
              </a:br>
              <a:endParaRPr lang="en-US" sz="800" b="1" i="0" dirty="0">
                <a:solidFill>
                  <a:srgbClr val="FFC000"/>
                </a:solidFill>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Innovative Design</a:t>
              </a:r>
            </a:p>
            <a:p>
              <a:pPr marL="171450" indent="-171450">
                <a:buFont typeface="Arial" panose="020B0604020202020204" pitchFamily="34" charset="0"/>
                <a:buChar char="•"/>
              </a:pPr>
              <a:r>
                <a:rPr lang="en-US" sz="800">
                  <a:solidFill>
                    <a:schemeClr val="bg1"/>
                  </a:solidFill>
                  <a:latin typeface="Segoe UI" panose="020B0502040204020203" pitchFamily="34" charset="0"/>
                  <a:cs typeface="Segoe UI" panose="020B0502040204020203" pitchFamily="34" charset="0"/>
                </a:rPr>
                <a:t>AI </a:t>
              </a:r>
              <a:r>
                <a:rPr lang="en-US" sz="800" b="0" i="0">
                  <a:solidFill>
                    <a:schemeClr val="bg1"/>
                  </a:solidFill>
                  <a:effectLst/>
                  <a:latin typeface="Segoe UI" panose="020B0502040204020203" pitchFamily="34" charset="0"/>
                  <a:cs typeface="Segoe UI" panose="020B0502040204020203" pitchFamily="34" charset="0"/>
                </a:rPr>
                <a:t>model development </a:t>
              </a:r>
              <a:r>
                <a:rPr lang="en-US" sz="800" b="0" i="0" dirty="0">
                  <a:solidFill>
                    <a:schemeClr val="bg1"/>
                  </a:solidFill>
                  <a:effectLst/>
                  <a:latin typeface="Segoe UI" panose="020B0502040204020203" pitchFamily="34" charset="0"/>
                  <a:cs typeface="Segoe UI" panose="020B0502040204020203" pitchFamily="34" charset="0"/>
                </a:rPr>
                <a:t>and training</a:t>
              </a:r>
            </a:p>
            <a:p>
              <a:pPr marL="171450" indent="-171450">
                <a:spcBef>
                  <a:spcPts val="300"/>
                </a:spcBef>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Software development and testing</a:t>
              </a:r>
            </a:p>
            <a:p>
              <a:pPr marL="171450" indent="-171450">
                <a:spcBef>
                  <a:spcPts val="300"/>
                </a:spcBef>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Customer support and success</a:t>
              </a:r>
            </a:p>
            <a:p>
              <a:pPr marL="171450" indent="-171450">
                <a:spcBef>
                  <a:spcPts val="300"/>
                </a:spcBef>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Research and development</a:t>
              </a:r>
            </a:p>
            <a:p>
              <a:pPr marL="171450" indent="-171450">
                <a:spcBef>
                  <a:spcPts val="300"/>
                </a:spcBef>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Marketing and sales activities</a:t>
              </a:r>
            </a:p>
          </p:txBody>
        </p:sp>
        <p:sp>
          <p:nvSpPr>
            <p:cNvPr id="7" name="Rectangle 6">
              <a:extLst>
                <a:ext uri="{FF2B5EF4-FFF2-40B4-BE49-F238E27FC236}">
                  <a16:creationId xmlns:a16="http://schemas.microsoft.com/office/drawing/2014/main" id="{E46CD094-6F25-B2C6-2D25-A815DA54D9FF}"/>
                </a:ext>
              </a:extLst>
            </p:cNvPr>
            <p:cNvSpPr/>
            <p:nvPr/>
          </p:nvSpPr>
          <p:spPr>
            <a:xfrm>
              <a:off x="4022912" y="3056964"/>
              <a:ext cx="1313330" cy="2205317"/>
            </a:xfrm>
            <a:prstGeom prst="rect">
              <a:avLst/>
            </a:prstGeom>
            <a:grp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i="0" dirty="0">
                  <a:solidFill>
                    <a:srgbClr val="FFC000"/>
                  </a:solidFill>
                  <a:effectLst/>
                  <a:latin typeface="Segoe UI" panose="020B0502040204020203" pitchFamily="34" charset="0"/>
                  <a:cs typeface="Segoe UI" panose="020B0502040204020203" pitchFamily="34" charset="0"/>
                </a:rPr>
                <a:t>Key Resources</a:t>
              </a:r>
              <a:br>
                <a:rPr lang="en-US" sz="800" b="1" i="0" dirty="0">
                  <a:solidFill>
                    <a:srgbClr val="FFC000"/>
                  </a:solidFill>
                  <a:effectLst/>
                  <a:latin typeface="Segoe UI" panose="020B0502040204020203" pitchFamily="34" charset="0"/>
                  <a:cs typeface="Segoe UI" panose="020B0502040204020203" pitchFamily="34" charset="0"/>
                </a:rPr>
              </a:br>
              <a:endParaRPr lang="en-US" sz="800" b="1" i="0" dirty="0">
                <a:solidFill>
                  <a:srgbClr val="FFC000"/>
                </a:solidFill>
                <a:effectLst/>
                <a:latin typeface="Segoe UI" panose="020B0502040204020203" pitchFamily="34" charset="0"/>
                <a:cs typeface="Segoe UI" panose="020B0502040204020203" pitchFamily="34" charset="0"/>
              </a:endParaRPr>
            </a:p>
            <a:p>
              <a:r>
                <a:rPr lang="en-US" sz="800" b="0" i="0" dirty="0">
                  <a:solidFill>
                    <a:schemeClr val="bg1"/>
                  </a:solidFill>
                  <a:effectLst/>
                  <a:latin typeface="Segoe UI" panose="020B0502040204020203" pitchFamily="34" charset="0"/>
                  <a:cs typeface="Segoe UI" panose="020B0502040204020203" pitchFamily="34" charset="0"/>
                </a:rPr>
                <a:t>• AI and Design expertise</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Proprietary algorithms and </a:t>
              </a:r>
              <a:r>
                <a:rPr lang="en-US" sz="800" dirty="0">
                  <a:solidFill>
                    <a:schemeClr val="bg1"/>
                  </a:solidFill>
                  <a:latin typeface="Segoe UI" panose="020B0502040204020203" pitchFamily="34" charset="0"/>
                  <a:cs typeface="Segoe UI" panose="020B0502040204020203" pitchFamily="34" charset="0"/>
                </a:rPr>
                <a:t>training </a:t>
              </a:r>
              <a:r>
                <a:rPr lang="en-US" sz="800" b="0" i="0" dirty="0">
                  <a:solidFill>
                    <a:schemeClr val="bg1"/>
                  </a:solidFill>
                  <a:effectLst/>
                  <a:latin typeface="Segoe UI" panose="020B0502040204020203" pitchFamily="34" charset="0"/>
                  <a:cs typeface="Segoe UI" panose="020B0502040204020203" pitchFamily="34" charset="0"/>
                </a:rPr>
                <a:t>data</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Development team and infrastructure</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Brand </a:t>
              </a:r>
            </a:p>
            <a:p>
              <a:pPr>
                <a:spcBef>
                  <a:spcPts val="300"/>
                </a:spcBef>
              </a:pPr>
              <a:r>
                <a:rPr lang="en-US" sz="800" dirty="0">
                  <a:solidFill>
                    <a:schemeClr val="bg1"/>
                  </a:solidFill>
                  <a:latin typeface="Segoe UI" panose="020B0502040204020203" pitchFamily="34" charset="0"/>
                  <a:cs typeface="Segoe UI" panose="020B0502040204020203" pitchFamily="34" charset="0"/>
                </a:rPr>
                <a:t>• I</a:t>
              </a:r>
              <a:r>
                <a:rPr lang="en-US" sz="800" b="0" i="0" dirty="0">
                  <a:solidFill>
                    <a:schemeClr val="bg1"/>
                  </a:solidFill>
                  <a:effectLst/>
                  <a:latin typeface="Segoe UI" panose="020B0502040204020203" pitchFamily="34" charset="0"/>
                  <a:cs typeface="Segoe UI" panose="020B0502040204020203" pitchFamily="34" charset="0"/>
                </a:rPr>
                <a:t>ntellectual property</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Customer data and insights</a:t>
              </a:r>
            </a:p>
          </p:txBody>
        </p:sp>
        <p:sp>
          <p:nvSpPr>
            <p:cNvPr id="8" name="Rectangle 7">
              <a:extLst>
                <a:ext uri="{FF2B5EF4-FFF2-40B4-BE49-F238E27FC236}">
                  <a16:creationId xmlns:a16="http://schemas.microsoft.com/office/drawing/2014/main" id="{0501F281-C36A-47AE-9419-68B6CC2D01D4}"/>
                </a:ext>
              </a:extLst>
            </p:cNvPr>
            <p:cNvSpPr/>
            <p:nvPr/>
          </p:nvSpPr>
          <p:spPr>
            <a:xfrm>
              <a:off x="5439335" y="779929"/>
              <a:ext cx="1313330" cy="4482352"/>
            </a:xfrm>
            <a:prstGeom prst="rect">
              <a:avLst/>
            </a:prstGeom>
            <a:grp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i="0" dirty="0">
                  <a:solidFill>
                    <a:srgbClr val="FFC000"/>
                  </a:solidFill>
                  <a:effectLst/>
                  <a:latin typeface="Segoe UI" panose="020B0502040204020203" pitchFamily="34" charset="0"/>
                  <a:cs typeface="Segoe UI" panose="020B0502040204020203" pitchFamily="34" charset="0"/>
                </a:rPr>
                <a:t>Value Propositions</a:t>
              </a:r>
              <a:br>
                <a:rPr lang="en-US" sz="800" b="1" i="0" dirty="0">
                  <a:solidFill>
                    <a:srgbClr val="FFC000"/>
                  </a:solidFill>
                  <a:effectLst/>
                  <a:latin typeface="Segoe UI" panose="020B0502040204020203" pitchFamily="34" charset="0"/>
                  <a:cs typeface="Segoe UI" panose="020B0502040204020203" pitchFamily="34" charset="0"/>
                </a:rPr>
              </a:br>
              <a:endParaRPr lang="en-US" sz="800" b="1" i="0" dirty="0">
                <a:solidFill>
                  <a:srgbClr val="FFC000"/>
                </a:solidFill>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World’s first business simulator that’s easy enough for anyone to use and trust</a:t>
              </a:r>
            </a:p>
            <a:p>
              <a:pPr marL="171450" indent="-171450">
                <a:buFont typeface="Arial" panose="020B0604020202020204" pitchFamily="34" charset="0"/>
                <a:buChar char="•"/>
              </a:pPr>
              <a:endParaRPr lang="en-US" sz="800" dirty="0">
                <a:solidFill>
                  <a:schemeClr val="bg1"/>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800" dirty="0">
                  <a:solidFill>
                    <a:schemeClr val="bg1"/>
                  </a:solidFill>
                  <a:latin typeface="Segoe UI Semilight" panose="020B0402040204020203" pitchFamily="34" charset="0"/>
                  <a:cs typeface="Segoe UI Semilight" panose="020B0402040204020203" pitchFamily="34" charset="0"/>
                </a:rPr>
                <a:t>Ability to simulate business outcomes before committing funds to make better decisions</a:t>
              </a:r>
            </a:p>
            <a:p>
              <a:pPr marL="171450" indent="-171450">
                <a:buFont typeface="Arial" panose="020B0604020202020204" pitchFamily="34" charset="0"/>
                <a:buChar char="•"/>
              </a:pPr>
              <a:endParaRPr lang="en-US" sz="800" dirty="0">
                <a:solidFill>
                  <a:schemeClr val="bg1"/>
                </a:solidFill>
                <a:latin typeface="Segoe UI Semilight" panose="020B0402040204020203" pitchFamily="34" charset="0"/>
                <a:cs typeface="Segoe UI Semilight" panose="020B0402040204020203" pitchFamily="34" charset="0"/>
              </a:endParaRPr>
            </a:p>
            <a:p>
              <a:pPr marL="171450" indent="-171450">
                <a:buFont typeface="Arial" panose="020B0604020202020204" pitchFamily="34" charset="0"/>
                <a:buChar char="•"/>
              </a:pPr>
              <a:r>
                <a:rPr lang="en-US" sz="800" dirty="0">
                  <a:solidFill>
                    <a:schemeClr val="bg1"/>
                  </a:solidFill>
                  <a:latin typeface="Segoe UI Semilight" panose="020B0402040204020203" pitchFamily="34" charset="0"/>
                  <a:cs typeface="Segoe UI Semilight" panose="020B0402040204020203" pitchFamily="34" charset="0"/>
                </a:rPr>
                <a:t>Deliver more insights by getting people to the “moment of clarity” faster</a:t>
              </a:r>
            </a:p>
          </p:txBody>
        </p:sp>
        <p:sp>
          <p:nvSpPr>
            <p:cNvPr id="9" name="Rectangle 8">
              <a:extLst>
                <a:ext uri="{FF2B5EF4-FFF2-40B4-BE49-F238E27FC236}">
                  <a16:creationId xmlns:a16="http://schemas.microsoft.com/office/drawing/2014/main" id="{2CBBBEFB-D5FB-14BB-861F-2DC3537FCADF}"/>
                </a:ext>
              </a:extLst>
            </p:cNvPr>
            <p:cNvSpPr/>
            <p:nvPr/>
          </p:nvSpPr>
          <p:spPr>
            <a:xfrm>
              <a:off x="6833347" y="779929"/>
              <a:ext cx="1313330" cy="2205317"/>
            </a:xfrm>
            <a:prstGeom prst="rect">
              <a:avLst/>
            </a:prstGeom>
            <a:grp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i="0" dirty="0">
                  <a:solidFill>
                    <a:srgbClr val="FFC000"/>
                  </a:solidFill>
                  <a:effectLst/>
                  <a:latin typeface="Segoe UI" panose="020B0502040204020203" pitchFamily="34" charset="0"/>
                  <a:cs typeface="Segoe UI" panose="020B0502040204020203" pitchFamily="34" charset="0"/>
                </a:rPr>
                <a:t>Customer Relationships</a:t>
              </a:r>
            </a:p>
            <a:p>
              <a:endParaRPr lang="en-US" sz="800" b="1" i="0" dirty="0">
                <a:solidFill>
                  <a:schemeClr val="bg1"/>
                </a:solidFill>
                <a:effectLst/>
                <a:latin typeface="Segoe UI" panose="020B0502040204020203" pitchFamily="34" charset="0"/>
                <a:cs typeface="Segoe UI" panose="020B0502040204020203" pitchFamily="34" charset="0"/>
              </a:endParaRPr>
            </a:p>
            <a:p>
              <a:pPr>
                <a:spcBef>
                  <a:spcPts val="300"/>
                </a:spcBef>
              </a:pPr>
              <a:r>
                <a:rPr lang="en-US" sz="800" dirty="0">
                  <a:solidFill>
                    <a:schemeClr val="bg1"/>
                  </a:solidFill>
                  <a:latin typeface="Segoe UI" panose="020B0502040204020203" pitchFamily="34" charset="0"/>
                  <a:cs typeface="Segoe UI" panose="020B0502040204020203" pitchFamily="34" charset="0"/>
                </a:rPr>
                <a:t>• 24/7 technical support</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Self-service help</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Community forums and support</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Regular training and workshops</a:t>
              </a:r>
            </a:p>
            <a:p>
              <a:pPr>
                <a:spcBef>
                  <a:spcPts val="300"/>
                </a:spcBef>
              </a:pPr>
              <a:r>
                <a:rPr lang="en-US" sz="800" dirty="0">
                  <a:solidFill>
                    <a:schemeClr val="bg1"/>
                  </a:solidFill>
                  <a:latin typeface="Segoe UI" panose="020B0502040204020203" pitchFamily="34" charset="0"/>
                  <a:cs typeface="Segoe UI" panose="020B0502040204020203" pitchFamily="34" charset="0"/>
                </a:rPr>
                <a:t>• Dedicated account management</a:t>
              </a:r>
            </a:p>
            <a:p>
              <a:pPr>
                <a:spcBef>
                  <a:spcPts val="300"/>
                </a:spcBef>
              </a:pPr>
              <a:endParaRPr lang="en-US" sz="800" b="0" i="0" dirty="0">
                <a:solidFill>
                  <a:schemeClr val="bg1"/>
                </a:solidFill>
                <a:effectLst/>
                <a:latin typeface="Segoe UI" panose="020B0502040204020203" pitchFamily="34" charset="0"/>
                <a:cs typeface="Segoe UI" panose="020B0502040204020203" pitchFamily="34" charset="0"/>
              </a:endParaRPr>
            </a:p>
          </p:txBody>
        </p:sp>
        <p:sp>
          <p:nvSpPr>
            <p:cNvPr id="10" name="Rectangle 9">
              <a:extLst>
                <a:ext uri="{FF2B5EF4-FFF2-40B4-BE49-F238E27FC236}">
                  <a16:creationId xmlns:a16="http://schemas.microsoft.com/office/drawing/2014/main" id="{18B454FA-E0C0-3349-88EA-619DB2AC6310}"/>
                </a:ext>
              </a:extLst>
            </p:cNvPr>
            <p:cNvSpPr/>
            <p:nvPr/>
          </p:nvSpPr>
          <p:spPr>
            <a:xfrm>
              <a:off x="6833347" y="3056964"/>
              <a:ext cx="1313330" cy="2205317"/>
            </a:xfrm>
            <a:prstGeom prst="rect">
              <a:avLst/>
            </a:prstGeom>
            <a:grp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i="0" dirty="0">
                  <a:solidFill>
                    <a:srgbClr val="FFC000"/>
                  </a:solidFill>
                  <a:effectLst/>
                  <a:latin typeface="Segoe UI" panose="020B0502040204020203" pitchFamily="34" charset="0"/>
                  <a:cs typeface="Segoe UI" panose="020B0502040204020203" pitchFamily="34" charset="0"/>
                </a:rPr>
                <a:t>Channels</a:t>
              </a:r>
            </a:p>
            <a:p>
              <a:endParaRPr lang="en-US" sz="800" b="1" i="0" dirty="0">
                <a:solidFill>
                  <a:schemeClr val="bg1"/>
                </a:solidFill>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Website</a:t>
              </a:r>
            </a:p>
            <a:p>
              <a:pPr marL="171450" indent="-171450">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Digital marketing campaigns</a:t>
              </a:r>
            </a:p>
            <a:p>
              <a:pPr marL="171450" indent="-171450">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Direct sales team via Microsoft</a:t>
              </a:r>
            </a:p>
            <a:p>
              <a:pPr marL="171450" indent="-171450">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Partner channel programs</a:t>
              </a:r>
            </a:p>
            <a:p>
              <a:pPr marL="171450" indent="-171450">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Industry conferences and events</a:t>
              </a:r>
            </a:p>
          </p:txBody>
        </p:sp>
        <p:sp>
          <p:nvSpPr>
            <p:cNvPr id="11" name="Rectangle 10">
              <a:extLst>
                <a:ext uri="{FF2B5EF4-FFF2-40B4-BE49-F238E27FC236}">
                  <a16:creationId xmlns:a16="http://schemas.microsoft.com/office/drawing/2014/main" id="{3119BE82-A9D1-0FC2-1202-C529ADEEE780}"/>
                </a:ext>
              </a:extLst>
            </p:cNvPr>
            <p:cNvSpPr/>
            <p:nvPr/>
          </p:nvSpPr>
          <p:spPr>
            <a:xfrm>
              <a:off x="8227358" y="779929"/>
              <a:ext cx="1313330" cy="4482352"/>
            </a:xfrm>
            <a:prstGeom prst="rect">
              <a:avLst/>
            </a:prstGeom>
            <a:grp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i="0" dirty="0">
                  <a:solidFill>
                    <a:srgbClr val="FFC000"/>
                  </a:solidFill>
                  <a:effectLst/>
                  <a:latin typeface="Segoe UI" panose="020B0502040204020203" pitchFamily="34" charset="0"/>
                  <a:cs typeface="Segoe UI" panose="020B0502040204020203" pitchFamily="34" charset="0"/>
                </a:rPr>
                <a:t>Customer Segments</a:t>
              </a:r>
            </a:p>
            <a:p>
              <a:endParaRPr lang="en-US" sz="800" b="1" i="0" dirty="0">
                <a:solidFill>
                  <a:schemeClr val="bg1"/>
                </a:solidFill>
                <a:effectLst/>
                <a:latin typeface="Segoe UI" panose="020B0502040204020203" pitchFamily="34" charset="0"/>
                <a:cs typeface="Segoe UI" panose="020B0502040204020203" pitchFamily="34" charset="0"/>
              </a:endParaRP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Executives</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Consultants</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Startup Founders</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Venture Capitalists</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Product Managers</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Operations </a:t>
              </a:r>
            </a:p>
            <a:p>
              <a:pPr marL="171450" indent="-171450">
                <a:lnSpc>
                  <a:spcPct val="150000"/>
                </a:lnSpc>
                <a:buFont typeface="Arial" panose="020B0604020202020204" pitchFamily="34" charset="0"/>
                <a:buChar char="•"/>
              </a:pPr>
              <a:r>
                <a:rPr lang="en-US" sz="800" dirty="0">
                  <a:solidFill>
                    <a:schemeClr val="bg1"/>
                  </a:solidFill>
                  <a:latin typeface="Segoe UI" panose="020B0502040204020203" pitchFamily="34" charset="0"/>
                  <a:cs typeface="Segoe UI" panose="020B0502040204020203" pitchFamily="34" charset="0"/>
                </a:rPr>
                <a:t>Marketers</a:t>
              </a:r>
            </a:p>
            <a:p>
              <a:endParaRPr lang="en-US" sz="800" b="0" i="0" dirty="0">
                <a:solidFill>
                  <a:schemeClr val="bg1"/>
                </a:solidFill>
                <a:effectLst/>
                <a:latin typeface="Segoe UI" panose="020B0502040204020203" pitchFamily="34" charset="0"/>
                <a:cs typeface="Segoe UI" panose="020B0502040204020203" pitchFamily="34" charset="0"/>
              </a:endParaRPr>
            </a:p>
            <a:p>
              <a:r>
                <a:rPr lang="en-US" sz="800" b="0" i="0" dirty="0">
                  <a:solidFill>
                    <a:schemeClr val="bg1"/>
                  </a:solidFill>
                  <a:effectLst/>
                  <a:latin typeface="Segoe UI" panose="020B0502040204020203" pitchFamily="34" charset="0"/>
                  <a:cs typeface="Segoe UI" panose="020B0502040204020203" pitchFamily="34" charset="0"/>
                </a:rPr>
                <a:t>Initially focused on </a:t>
              </a:r>
            </a:p>
            <a:p>
              <a:pPr marL="171450" indent="-171450">
                <a:spcBef>
                  <a:spcPts val="300"/>
                </a:spcBef>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Financial Services</a:t>
              </a:r>
            </a:p>
            <a:p>
              <a:pPr marL="171450" indent="-171450">
                <a:spcBef>
                  <a:spcPts val="300"/>
                </a:spcBef>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Consulting Firms</a:t>
              </a:r>
            </a:p>
            <a:p>
              <a:pPr marL="171450" indent="-171450">
                <a:spcBef>
                  <a:spcPts val="300"/>
                </a:spcBef>
                <a:buFont typeface="Arial" panose="020B0604020202020204" pitchFamily="34" charset="0"/>
                <a:buChar char="•"/>
              </a:pPr>
              <a:r>
                <a:rPr lang="en-US" sz="800" b="0" i="0" dirty="0">
                  <a:solidFill>
                    <a:schemeClr val="bg1"/>
                  </a:solidFill>
                  <a:effectLst/>
                  <a:latin typeface="Segoe UI" panose="020B0502040204020203" pitchFamily="34" charset="0"/>
                  <a:cs typeface="Segoe UI" panose="020B0502040204020203" pitchFamily="34" charset="0"/>
                </a:rPr>
                <a:t>Investors</a:t>
              </a:r>
            </a:p>
            <a:p>
              <a:pPr>
                <a:spcBef>
                  <a:spcPts val="300"/>
                </a:spcBef>
              </a:pPr>
              <a:endParaRPr lang="en-US" sz="800" dirty="0">
                <a:solidFill>
                  <a:schemeClr val="bg1"/>
                </a:solidFill>
                <a:latin typeface="Segoe UI" panose="020B0502040204020203" pitchFamily="34" charset="0"/>
                <a:cs typeface="Segoe UI" panose="020B0502040204020203" pitchFamily="34" charset="0"/>
              </a:endParaRPr>
            </a:p>
          </p:txBody>
        </p:sp>
        <p:sp>
          <p:nvSpPr>
            <p:cNvPr id="12" name="Rectangle 11">
              <a:extLst>
                <a:ext uri="{FF2B5EF4-FFF2-40B4-BE49-F238E27FC236}">
                  <a16:creationId xmlns:a16="http://schemas.microsoft.com/office/drawing/2014/main" id="{D5A27C89-A9D0-F569-BB38-DAAEB60D1239}"/>
                </a:ext>
              </a:extLst>
            </p:cNvPr>
            <p:cNvSpPr/>
            <p:nvPr/>
          </p:nvSpPr>
          <p:spPr>
            <a:xfrm>
              <a:off x="2606487" y="5356374"/>
              <a:ext cx="3473825" cy="1138517"/>
            </a:xfrm>
            <a:prstGeom prst="rect">
              <a:avLst/>
            </a:prstGeom>
            <a:grp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i="0" dirty="0">
                  <a:solidFill>
                    <a:srgbClr val="FFC000"/>
                  </a:solidFill>
                  <a:effectLst/>
                  <a:latin typeface="Segoe UI" panose="020B0502040204020203" pitchFamily="34" charset="0"/>
                  <a:cs typeface="Segoe UI" panose="020B0502040204020203" pitchFamily="34" charset="0"/>
                </a:rPr>
                <a:t>Cost Structure</a:t>
              </a:r>
            </a:p>
            <a:p>
              <a:endParaRPr lang="en-US" sz="800" b="1" i="0" dirty="0">
                <a:solidFill>
                  <a:srgbClr val="FFC000"/>
                </a:solidFill>
                <a:effectLst/>
                <a:latin typeface="Segoe UI" panose="020B0502040204020203" pitchFamily="34" charset="0"/>
                <a:cs typeface="Segoe UI" panose="020B0502040204020203" pitchFamily="34" charset="0"/>
              </a:endParaRP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Executive, R&amp;D, Professional Services staff</a:t>
              </a:r>
            </a:p>
            <a:p>
              <a:pPr>
                <a:spcBef>
                  <a:spcPts val="300"/>
                </a:spcBef>
              </a:pPr>
              <a:r>
                <a:rPr lang="en-US" sz="800" dirty="0">
                  <a:solidFill>
                    <a:schemeClr val="bg1"/>
                  </a:solidFill>
                  <a:latin typeface="Segoe UI" panose="020B0502040204020203" pitchFamily="34" charset="0"/>
                  <a:cs typeface="Segoe UI" panose="020B0502040204020203" pitchFamily="34" charset="0"/>
                </a:rPr>
                <a:t>• Cloud infrastructure, hosting, model training</a:t>
              </a:r>
            </a:p>
            <a:p>
              <a:pPr>
                <a:spcBef>
                  <a:spcPts val="300"/>
                </a:spcBef>
              </a:pPr>
              <a:r>
                <a:rPr lang="en-US" sz="800" dirty="0">
                  <a:solidFill>
                    <a:schemeClr val="bg1"/>
                  </a:solidFill>
                  <a:latin typeface="Segoe UI" panose="020B0502040204020203" pitchFamily="34" charset="0"/>
                  <a:cs typeface="Segoe UI" panose="020B0502040204020203" pitchFamily="34" charset="0"/>
                </a:rPr>
                <a:t>• </a:t>
              </a:r>
              <a:r>
                <a:rPr lang="en-US" sz="800" b="0" i="0" dirty="0">
                  <a:solidFill>
                    <a:schemeClr val="bg1"/>
                  </a:solidFill>
                  <a:effectLst/>
                  <a:latin typeface="Segoe UI" panose="020B0502040204020203" pitchFamily="34" charset="0"/>
                  <a:cs typeface="Segoe UI" panose="020B0502040204020203" pitchFamily="34" charset="0"/>
                </a:rPr>
                <a:t>Sales and marketing expenses</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Legal and compliance costs</a:t>
              </a:r>
            </a:p>
          </p:txBody>
        </p:sp>
        <p:sp>
          <p:nvSpPr>
            <p:cNvPr id="13" name="Rectangle 12">
              <a:extLst>
                <a:ext uri="{FF2B5EF4-FFF2-40B4-BE49-F238E27FC236}">
                  <a16:creationId xmlns:a16="http://schemas.microsoft.com/office/drawing/2014/main" id="{05DB209A-31FD-9071-A7A3-958866C7B4F8}"/>
                </a:ext>
              </a:extLst>
            </p:cNvPr>
            <p:cNvSpPr/>
            <p:nvPr/>
          </p:nvSpPr>
          <p:spPr>
            <a:xfrm>
              <a:off x="6196853" y="5356374"/>
              <a:ext cx="3330388" cy="1138517"/>
            </a:xfrm>
            <a:prstGeom prst="rect">
              <a:avLst/>
            </a:prstGeom>
            <a:grp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i="0" dirty="0">
                  <a:solidFill>
                    <a:srgbClr val="FFC000"/>
                  </a:solidFill>
                  <a:effectLst/>
                  <a:latin typeface="Segoe UI" panose="020B0502040204020203" pitchFamily="34" charset="0"/>
                  <a:cs typeface="Segoe UI" panose="020B0502040204020203" pitchFamily="34" charset="0"/>
                </a:rPr>
                <a:t>Revenue Streams</a:t>
              </a:r>
            </a:p>
            <a:p>
              <a:endParaRPr lang="en-US" sz="800" b="1" i="0" dirty="0">
                <a:solidFill>
                  <a:srgbClr val="FFC000"/>
                </a:solidFill>
                <a:effectLst/>
                <a:latin typeface="Segoe UI" panose="020B0502040204020203" pitchFamily="34" charset="0"/>
                <a:cs typeface="Segoe UI" panose="020B0502040204020203" pitchFamily="34" charset="0"/>
              </a:endParaRPr>
            </a:p>
            <a:p>
              <a:r>
                <a:rPr lang="en-US" sz="800" b="0" i="0" dirty="0">
                  <a:solidFill>
                    <a:schemeClr val="bg1"/>
                  </a:solidFill>
                  <a:effectLst/>
                  <a:latin typeface="Segoe UI" panose="020B0502040204020203" pitchFamily="34" charset="0"/>
                  <a:cs typeface="Segoe UI" panose="020B0502040204020203" pitchFamily="34" charset="0"/>
                </a:rPr>
                <a:t>• Monthly subscription fees</a:t>
              </a:r>
            </a:p>
            <a:p>
              <a:pPr>
                <a:spcBef>
                  <a:spcPts val="300"/>
                </a:spcBef>
              </a:pPr>
              <a:r>
                <a:rPr lang="en-US" sz="800" dirty="0">
                  <a:solidFill>
                    <a:schemeClr val="bg1"/>
                  </a:solidFill>
                  <a:latin typeface="Segoe UI" panose="020B0502040204020203" pitchFamily="34" charset="0"/>
                  <a:cs typeface="Segoe UI" panose="020B0502040204020203" pitchFamily="34" charset="0"/>
                </a:rPr>
                <a:t>• API usage and transaction fees</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Enterprise licensing deals</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Professional services and consulting</a:t>
              </a:r>
            </a:p>
            <a:p>
              <a:pPr>
                <a:spcBef>
                  <a:spcPts val="300"/>
                </a:spcBef>
              </a:pPr>
              <a:r>
                <a:rPr lang="en-US" sz="800" b="0" i="0" dirty="0">
                  <a:solidFill>
                    <a:schemeClr val="bg1"/>
                  </a:solidFill>
                  <a:effectLst/>
                  <a:latin typeface="Segoe UI" panose="020B0502040204020203" pitchFamily="34" charset="0"/>
                  <a:cs typeface="Segoe UI" panose="020B0502040204020203" pitchFamily="34" charset="0"/>
                </a:rPr>
                <a:t>• Training and certification programs</a:t>
              </a:r>
            </a:p>
          </p:txBody>
        </p:sp>
        <p:sp>
          <p:nvSpPr>
            <p:cNvPr id="15" name="TextBox 14">
              <a:extLst>
                <a:ext uri="{FF2B5EF4-FFF2-40B4-BE49-F238E27FC236}">
                  <a16:creationId xmlns:a16="http://schemas.microsoft.com/office/drawing/2014/main" id="{0E5667BF-5C79-3CEE-CBF2-86C1E387B6B5}"/>
                </a:ext>
              </a:extLst>
            </p:cNvPr>
            <p:cNvSpPr txBox="1"/>
            <p:nvPr/>
          </p:nvSpPr>
          <p:spPr>
            <a:xfrm>
              <a:off x="2619934" y="181361"/>
              <a:ext cx="6920754" cy="461665"/>
            </a:xfrm>
            <a:prstGeom prst="rect">
              <a:avLst/>
            </a:prstGeom>
            <a:solidFill>
              <a:schemeClr val="bg1">
                <a:lumMod val="75000"/>
              </a:schemeClr>
            </a:solidFill>
            <a:ln w="12700">
              <a:noFill/>
            </a:ln>
          </p:spPr>
          <p:txBody>
            <a:bodyPr wrap="square">
              <a:spAutoFit/>
            </a:bodyPr>
            <a:lstStyle/>
            <a:p>
              <a:pPr algn="ctr"/>
              <a:r>
                <a:rPr lang="en-US" sz="2400" dirty="0">
                  <a:latin typeface="Segoe UI" panose="020B0502040204020203" pitchFamily="34" charset="0"/>
                  <a:cs typeface="Segoe UI" panose="020B0502040204020203" pitchFamily="34" charset="0"/>
                </a:rPr>
                <a:t>Envisioner, Inc.</a:t>
              </a:r>
            </a:p>
          </p:txBody>
        </p:sp>
      </p:grpSp>
      <p:sp>
        <p:nvSpPr>
          <p:cNvPr id="2" name="TextBox 1">
            <a:extLst>
              <a:ext uri="{FF2B5EF4-FFF2-40B4-BE49-F238E27FC236}">
                <a16:creationId xmlns:a16="http://schemas.microsoft.com/office/drawing/2014/main" id="{E2083150-84E0-03BD-F733-94190C697AEB}"/>
              </a:ext>
            </a:extLst>
          </p:cNvPr>
          <p:cNvSpPr txBox="1"/>
          <p:nvPr/>
        </p:nvSpPr>
        <p:spPr>
          <a:xfrm>
            <a:off x="334927" y="198819"/>
            <a:ext cx="4312169" cy="707886"/>
          </a:xfrm>
          <a:prstGeom prst="rect">
            <a:avLst/>
          </a:prstGeom>
          <a:noFill/>
        </p:spPr>
        <p:txBody>
          <a:bodyPr wrap="square" rtlCol="0">
            <a:spAutoFit/>
          </a:bodyPr>
          <a:lstStyle/>
          <a:p>
            <a:r>
              <a:rPr lang="en-US" sz="4000" spc="-150" dirty="0">
                <a:solidFill>
                  <a:schemeClr val="bg1"/>
                </a:solidFill>
                <a:latin typeface="Segoe UI Semibold" panose="020B0702040204020203" pitchFamily="34" charset="0"/>
                <a:cs typeface="Segoe UI Semibold" panose="020B0702040204020203" pitchFamily="34" charset="0"/>
              </a:rPr>
              <a:t>Business Model</a:t>
            </a:r>
            <a:endParaRPr lang="en-US" sz="1000" spc="-150" dirty="0">
              <a:solidFill>
                <a:schemeClr val="bg1"/>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BCD21A2-DFA6-0DD4-8D52-0D1007A637A5}"/>
              </a:ext>
            </a:extLst>
          </p:cNvPr>
          <p:cNvSpPr txBox="1"/>
          <p:nvPr/>
        </p:nvSpPr>
        <p:spPr>
          <a:xfrm>
            <a:off x="401983" y="1347304"/>
            <a:ext cx="3427895" cy="4185761"/>
          </a:xfrm>
          <a:prstGeom prst="rect">
            <a:avLst/>
          </a:prstGeom>
          <a:noFill/>
        </p:spPr>
        <p:txBody>
          <a:bodyPr wrap="square" rtlCol="0">
            <a:spAutoFit/>
          </a:bodyPr>
          <a:lstStyle/>
          <a:p>
            <a:r>
              <a:rPr lang="en-US" sz="1400" dirty="0">
                <a:solidFill>
                  <a:schemeClr val="bg2">
                    <a:lumMod val="90000"/>
                  </a:schemeClr>
                </a:solidFill>
                <a:latin typeface="Segoe UI" panose="020B0502040204020203" pitchFamily="34" charset="0"/>
                <a:cs typeface="Segoe UI" panose="020B0502040204020203" pitchFamily="34" charset="0"/>
              </a:rPr>
              <a:t>Envisioner, Inc. has a simple business model – deliver new-to-world tech capabilities that make people and organizations more successful.</a:t>
            </a:r>
          </a:p>
          <a:p>
            <a:endParaRPr lang="en-US" sz="1400" dirty="0">
              <a:solidFill>
                <a:schemeClr val="bg2">
                  <a:lumMod val="90000"/>
                </a:schemeClr>
              </a:solidFill>
              <a:latin typeface="Segoe UI" panose="020B0502040204020203" pitchFamily="34" charset="0"/>
              <a:cs typeface="Segoe UI" panose="020B0502040204020203" pitchFamily="34" charset="0"/>
            </a:endParaRPr>
          </a:p>
          <a:p>
            <a:r>
              <a:rPr lang="en-US" sz="1400" dirty="0">
                <a:solidFill>
                  <a:schemeClr val="bg2">
                    <a:lumMod val="90000"/>
                  </a:schemeClr>
                </a:solidFill>
                <a:latin typeface="Segoe UI" panose="020B0502040204020203" pitchFamily="34" charset="0"/>
                <a:cs typeface="Segoe UI" panose="020B0502040204020203" pitchFamily="34" charset="0"/>
              </a:rPr>
              <a:t>The key differentiating factor for this company’s success is that its business model is not locked to an expensive enterprise software subscription model – but rather focused on delivering value for individuals within any size org through affordable on-demand or monthly fees.</a:t>
            </a:r>
          </a:p>
          <a:p>
            <a:endParaRPr lang="en-US" sz="1400" dirty="0">
              <a:solidFill>
                <a:schemeClr val="bg2">
                  <a:lumMod val="90000"/>
                </a:schemeClr>
              </a:solidFill>
              <a:latin typeface="Segoe UI" panose="020B0502040204020203" pitchFamily="34" charset="0"/>
              <a:cs typeface="Segoe UI" panose="020B0502040204020203" pitchFamily="34" charset="0"/>
            </a:endParaRPr>
          </a:p>
          <a:p>
            <a:r>
              <a:rPr lang="en-US" sz="1400" dirty="0">
                <a:solidFill>
                  <a:schemeClr val="bg2">
                    <a:lumMod val="90000"/>
                  </a:schemeClr>
                </a:solidFill>
                <a:latin typeface="Segoe UI" panose="020B0502040204020203" pitchFamily="34" charset="0"/>
                <a:cs typeface="Segoe UI" panose="020B0502040204020203" pitchFamily="34" charset="0"/>
              </a:rPr>
              <a:t>Combined with the ability to finally see how our businesses truly operate and also  play what-if with decisions to save time and money – Envsioner delivers something never possible, today.</a:t>
            </a:r>
          </a:p>
        </p:txBody>
      </p:sp>
    </p:spTree>
    <p:extLst>
      <p:ext uri="{BB962C8B-B14F-4D97-AF65-F5344CB8AC3E}">
        <p14:creationId xmlns:p14="http://schemas.microsoft.com/office/powerpoint/2010/main" val="390949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Object 1">
            <a:extLst>
              <a:ext uri="{FF2B5EF4-FFF2-40B4-BE49-F238E27FC236}">
                <a16:creationId xmlns:a16="http://schemas.microsoft.com/office/drawing/2014/main" id="{0D8731CD-86AE-E9FB-8030-8842F53D2ADF}"/>
              </a:ext>
            </a:extLst>
          </p:cNvPr>
          <p:cNvSpPr/>
          <p:nvPr/>
        </p:nvSpPr>
        <p:spPr>
          <a:xfrm>
            <a:off x="477186" y="851370"/>
            <a:ext cx="5745402" cy="509906"/>
          </a:xfrm>
          <a:prstGeom prst="rect">
            <a:avLst/>
          </a:prstGeom>
          <a:noFill/>
        </p:spPr>
        <p:txBody>
          <a:bodyPr wrap="square" lIns="0" tIns="0" rIns="0" bIns="0" rtlCol="0" anchor="t"/>
          <a:lstStyle/>
          <a:p>
            <a:pPr>
              <a:lnSpc>
                <a:spcPts val="4016"/>
              </a:lnSpc>
            </a:pPr>
            <a:r>
              <a:rPr lang="en-US" dirty="0">
                <a:solidFill>
                  <a:schemeClr val="bg1">
                    <a:lumMod val="65000"/>
                  </a:schemeClr>
                </a:solidFill>
                <a:latin typeface="Segoe UI Semilight"/>
                <a:cs typeface="Segoe UI Semilight"/>
              </a:rPr>
              <a:t>Projections based on funding H2 of 2025</a:t>
            </a:r>
            <a:endParaRPr lang="en-US" sz="1100" dirty="0">
              <a:solidFill>
                <a:schemeClr val="bg1">
                  <a:lumMod val="65000"/>
                </a:schemeClr>
              </a:solidFill>
              <a:latin typeface="Segoe UI Semilight"/>
              <a:cs typeface="Segoe UI Semilight"/>
            </a:endParaRPr>
          </a:p>
        </p:txBody>
      </p:sp>
      <p:sp>
        <p:nvSpPr>
          <p:cNvPr id="4" name="TextBox 3">
            <a:extLst>
              <a:ext uri="{FF2B5EF4-FFF2-40B4-BE49-F238E27FC236}">
                <a16:creationId xmlns:a16="http://schemas.microsoft.com/office/drawing/2014/main" id="{A764A623-25EC-1B0C-FED4-CFCB31F30D54}"/>
              </a:ext>
            </a:extLst>
          </p:cNvPr>
          <p:cNvSpPr txBox="1"/>
          <p:nvPr/>
        </p:nvSpPr>
        <p:spPr>
          <a:xfrm>
            <a:off x="334926" y="198819"/>
            <a:ext cx="7809613" cy="923330"/>
          </a:xfrm>
          <a:prstGeom prst="rect">
            <a:avLst/>
          </a:prstGeom>
          <a:noFill/>
        </p:spPr>
        <p:txBody>
          <a:bodyPr wrap="square" rtlCol="0">
            <a:spAutoFit/>
          </a:bodyPr>
          <a:lstStyle/>
          <a:p>
            <a:r>
              <a:rPr lang="en-US" sz="5400" spc="-150" dirty="0">
                <a:solidFill>
                  <a:schemeClr val="bg1"/>
                </a:solidFill>
                <a:latin typeface="Segoe UI Semibold" panose="020B0702040204020203" pitchFamily="34" charset="0"/>
                <a:cs typeface="Segoe UI Semibold" panose="020B0702040204020203" pitchFamily="34" charset="0"/>
              </a:rPr>
              <a:t>Financials</a:t>
            </a:r>
            <a:endParaRPr lang="en-US" sz="1200" spc="-150" dirty="0">
              <a:solidFill>
                <a:schemeClr val="bg1"/>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EF37683-A148-1838-ECF8-8B973C1AE5DA}"/>
              </a:ext>
            </a:extLst>
          </p:cNvPr>
          <p:cNvSpPr txBox="1"/>
          <p:nvPr/>
        </p:nvSpPr>
        <p:spPr>
          <a:xfrm>
            <a:off x="701168" y="4125622"/>
            <a:ext cx="3332707" cy="369332"/>
          </a:xfrm>
          <a:prstGeom prst="rect">
            <a:avLst/>
          </a:prstGeom>
          <a:noFill/>
        </p:spPr>
        <p:txBody>
          <a:bodyPr wrap="none" rtlCol="0">
            <a:spAutoFit/>
          </a:bodyPr>
          <a:lstStyle/>
          <a:p>
            <a:r>
              <a:rPr lang="en-US" dirty="0">
                <a:solidFill>
                  <a:srgbClr val="FFC000"/>
                </a:solidFill>
                <a:latin typeface="Segoe UI Semilight" panose="020B0402040204020203" pitchFamily="34" charset="0"/>
                <a:cs typeface="Segoe UI Semilight" panose="020B0402040204020203" pitchFamily="34" charset="0"/>
              </a:rPr>
              <a:t>&lt; see the pro forma for detail &gt;</a:t>
            </a:r>
          </a:p>
        </p:txBody>
      </p:sp>
      <p:cxnSp>
        <p:nvCxnSpPr>
          <p:cNvPr id="9" name="Straight Connector 8">
            <a:extLst>
              <a:ext uri="{FF2B5EF4-FFF2-40B4-BE49-F238E27FC236}">
                <a16:creationId xmlns:a16="http://schemas.microsoft.com/office/drawing/2014/main" id="{3D12A4A4-15B3-F063-B4E9-C89B91BF413C}"/>
              </a:ext>
            </a:extLst>
          </p:cNvPr>
          <p:cNvCxnSpPr>
            <a:cxnSpLocks/>
          </p:cNvCxnSpPr>
          <p:nvPr/>
        </p:nvCxnSpPr>
        <p:spPr>
          <a:xfrm>
            <a:off x="4468657" y="4407178"/>
            <a:ext cx="5152421"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843F926-D3C2-5404-A724-862D142875C9}"/>
              </a:ext>
            </a:extLst>
          </p:cNvPr>
          <p:cNvSpPr/>
          <p:nvPr/>
        </p:nvSpPr>
        <p:spPr>
          <a:xfrm>
            <a:off x="6724530" y="4427889"/>
            <a:ext cx="732115" cy="128660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2" name="Rectangle 11">
            <a:extLst>
              <a:ext uri="{FF2B5EF4-FFF2-40B4-BE49-F238E27FC236}">
                <a16:creationId xmlns:a16="http://schemas.microsoft.com/office/drawing/2014/main" id="{CE0AB0C9-43B8-F51F-41F9-6304C33B0C5F}"/>
              </a:ext>
            </a:extLst>
          </p:cNvPr>
          <p:cNvSpPr/>
          <p:nvPr/>
        </p:nvSpPr>
        <p:spPr>
          <a:xfrm>
            <a:off x="6724530" y="3197725"/>
            <a:ext cx="732115" cy="1188744"/>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Rectangle 13">
            <a:extLst>
              <a:ext uri="{FF2B5EF4-FFF2-40B4-BE49-F238E27FC236}">
                <a16:creationId xmlns:a16="http://schemas.microsoft.com/office/drawing/2014/main" id="{8ADDC794-E0FC-2AA9-CE14-6493440927D7}"/>
              </a:ext>
            </a:extLst>
          </p:cNvPr>
          <p:cNvSpPr/>
          <p:nvPr/>
        </p:nvSpPr>
        <p:spPr>
          <a:xfrm>
            <a:off x="7984143" y="728403"/>
            <a:ext cx="732115" cy="365806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Rectangle 14">
            <a:extLst>
              <a:ext uri="{FF2B5EF4-FFF2-40B4-BE49-F238E27FC236}">
                <a16:creationId xmlns:a16="http://schemas.microsoft.com/office/drawing/2014/main" id="{9DCB83F0-7810-BD28-7BEC-6B1B7317AA36}"/>
              </a:ext>
            </a:extLst>
          </p:cNvPr>
          <p:cNvSpPr/>
          <p:nvPr/>
        </p:nvSpPr>
        <p:spPr>
          <a:xfrm>
            <a:off x="7984143" y="4427889"/>
            <a:ext cx="732115" cy="170170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6" name="TextBox 15">
            <a:extLst>
              <a:ext uri="{FF2B5EF4-FFF2-40B4-BE49-F238E27FC236}">
                <a16:creationId xmlns:a16="http://schemas.microsoft.com/office/drawing/2014/main" id="{60006A48-A351-80E0-74F0-69E3DF075186}"/>
              </a:ext>
            </a:extLst>
          </p:cNvPr>
          <p:cNvSpPr txBox="1"/>
          <p:nvPr/>
        </p:nvSpPr>
        <p:spPr>
          <a:xfrm>
            <a:off x="6703582" y="3617183"/>
            <a:ext cx="774012" cy="307777"/>
          </a:xfrm>
          <a:prstGeom prst="rect">
            <a:avLst/>
          </a:prstGeom>
          <a:noFill/>
        </p:spPr>
        <p:txBody>
          <a:bodyPr wrap="square" rtlCol="0">
            <a:spAutoFit/>
          </a:bodyPr>
          <a:lstStyle/>
          <a:p>
            <a:pPr algn="ctr"/>
            <a:r>
              <a:rPr lang="en-US" sz="1400" dirty="0">
                <a:solidFill>
                  <a:schemeClr val="bg1">
                    <a:lumMod val="85000"/>
                  </a:schemeClr>
                </a:solidFill>
                <a:latin typeface="Segoe UI" panose="020B0502040204020203" pitchFamily="34" charset="0"/>
                <a:cs typeface="Segoe UI" panose="020B0502040204020203" pitchFamily="34" charset="0"/>
              </a:rPr>
              <a:t>$6.3M</a:t>
            </a:r>
          </a:p>
        </p:txBody>
      </p:sp>
      <p:sp>
        <p:nvSpPr>
          <p:cNvPr id="17" name="TextBox 16">
            <a:extLst>
              <a:ext uri="{FF2B5EF4-FFF2-40B4-BE49-F238E27FC236}">
                <a16:creationId xmlns:a16="http://schemas.microsoft.com/office/drawing/2014/main" id="{9433B835-EAE0-54C3-4A8E-B9C2466D3FD0}"/>
              </a:ext>
            </a:extLst>
          </p:cNvPr>
          <p:cNvSpPr txBox="1"/>
          <p:nvPr/>
        </p:nvSpPr>
        <p:spPr>
          <a:xfrm>
            <a:off x="6682634" y="5144298"/>
            <a:ext cx="774012" cy="307777"/>
          </a:xfrm>
          <a:prstGeom prst="rect">
            <a:avLst/>
          </a:prstGeom>
          <a:noFill/>
        </p:spPr>
        <p:txBody>
          <a:bodyPr wrap="square" rtlCol="0">
            <a:spAutoFit/>
          </a:bodyPr>
          <a:lstStyle/>
          <a:p>
            <a:pPr algn="ctr"/>
            <a:r>
              <a:rPr lang="en-US" sz="1400" dirty="0">
                <a:solidFill>
                  <a:schemeClr val="bg1">
                    <a:lumMod val="85000"/>
                  </a:schemeClr>
                </a:solidFill>
                <a:latin typeface="Segoe UI" panose="020B0502040204020203" pitchFamily="34" charset="0"/>
                <a:cs typeface="Segoe UI" panose="020B0502040204020203" pitchFamily="34" charset="0"/>
              </a:rPr>
              <a:t>$5.7M</a:t>
            </a:r>
          </a:p>
        </p:txBody>
      </p:sp>
      <p:sp>
        <p:nvSpPr>
          <p:cNvPr id="19" name="TextBox 18">
            <a:extLst>
              <a:ext uri="{FF2B5EF4-FFF2-40B4-BE49-F238E27FC236}">
                <a16:creationId xmlns:a16="http://schemas.microsoft.com/office/drawing/2014/main" id="{C65FADB5-1653-B738-76DA-EAC6B2DF174A}"/>
              </a:ext>
            </a:extLst>
          </p:cNvPr>
          <p:cNvSpPr txBox="1"/>
          <p:nvPr/>
        </p:nvSpPr>
        <p:spPr>
          <a:xfrm>
            <a:off x="7953573" y="5475059"/>
            <a:ext cx="774012" cy="307777"/>
          </a:xfrm>
          <a:prstGeom prst="rect">
            <a:avLst/>
          </a:prstGeom>
          <a:noFill/>
        </p:spPr>
        <p:txBody>
          <a:bodyPr wrap="square" rtlCol="0">
            <a:spAutoFit/>
          </a:bodyPr>
          <a:lstStyle/>
          <a:p>
            <a:pPr algn="ctr"/>
            <a:r>
              <a:rPr lang="en-US" sz="1400" dirty="0">
                <a:solidFill>
                  <a:schemeClr val="bg1">
                    <a:lumMod val="85000"/>
                  </a:schemeClr>
                </a:solidFill>
                <a:latin typeface="Segoe UI" panose="020B0502040204020203" pitchFamily="34" charset="0"/>
                <a:cs typeface="Segoe UI" panose="020B0502040204020203" pitchFamily="34" charset="0"/>
              </a:rPr>
              <a:t>$8.2M</a:t>
            </a:r>
          </a:p>
        </p:txBody>
      </p:sp>
      <p:sp>
        <p:nvSpPr>
          <p:cNvPr id="10" name="Rectangle 9">
            <a:extLst>
              <a:ext uri="{FF2B5EF4-FFF2-40B4-BE49-F238E27FC236}">
                <a16:creationId xmlns:a16="http://schemas.microsoft.com/office/drawing/2014/main" id="{07BD3F5A-AB2D-CA31-DDAC-BC0BCD788FF1}"/>
              </a:ext>
            </a:extLst>
          </p:cNvPr>
          <p:cNvSpPr/>
          <p:nvPr/>
        </p:nvSpPr>
        <p:spPr>
          <a:xfrm>
            <a:off x="5495487" y="4427890"/>
            <a:ext cx="732115" cy="88534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7" name="TextBox 6">
            <a:extLst>
              <a:ext uri="{FF2B5EF4-FFF2-40B4-BE49-F238E27FC236}">
                <a16:creationId xmlns:a16="http://schemas.microsoft.com/office/drawing/2014/main" id="{55D70B19-791B-6842-1790-D4822B9884BB}"/>
              </a:ext>
            </a:extLst>
          </p:cNvPr>
          <p:cNvSpPr txBox="1"/>
          <p:nvPr/>
        </p:nvSpPr>
        <p:spPr>
          <a:xfrm>
            <a:off x="5474539" y="4850237"/>
            <a:ext cx="774012" cy="307777"/>
          </a:xfrm>
          <a:prstGeom prst="rect">
            <a:avLst/>
          </a:prstGeom>
          <a:noFill/>
        </p:spPr>
        <p:txBody>
          <a:bodyPr wrap="square" rtlCol="0">
            <a:spAutoFit/>
          </a:bodyPr>
          <a:lstStyle/>
          <a:p>
            <a:pPr algn="ctr"/>
            <a:r>
              <a:rPr lang="en-US" sz="1400" dirty="0">
                <a:solidFill>
                  <a:schemeClr val="bg1">
                    <a:lumMod val="85000"/>
                  </a:schemeClr>
                </a:solidFill>
                <a:latin typeface="Segoe UI" panose="020B0502040204020203" pitchFamily="34" charset="0"/>
                <a:cs typeface="Segoe UI" panose="020B0502040204020203" pitchFamily="34" charset="0"/>
              </a:rPr>
              <a:t>$2.5M</a:t>
            </a:r>
          </a:p>
        </p:txBody>
      </p:sp>
      <p:sp>
        <p:nvSpPr>
          <p:cNvPr id="21" name="Rectangle 20">
            <a:extLst>
              <a:ext uri="{FF2B5EF4-FFF2-40B4-BE49-F238E27FC236}">
                <a16:creationId xmlns:a16="http://schemas.microsoft.com/office/drawing/2014/main" id="{AE0C736D-EFFA-6732-44E2-14092F3A6485}"/>
              </a:ext>
            </a:extLst>
          </p:cNvPr>
          <p:cNvSpPr/>
          <p:nvPr/>
        </p:nvSpPr>
        <p:spPr>
          <a:xfrm>
            <a:off x="5495943" y="4168051"/>
            <a:ext cx="732115" cy="2184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2" name="TextBox 21">
            <a:extLst>
              <a:ext uri="{FF2B5EF4-FFF2-40B4-BE49-F238E27FC236}">
                <a16:creationId xmlns:a16="http://schemas.microsoft.com/office/drawing/2014/main" id="{15072745-C6B7-8478-D3B7-7550A7BE45AF}"/>
              </a:ext>
            </a:extLst>
          </p:cNvPr>
          <p:cNvSpPr txBox="1"/>
          <p:nvPr/>
        </p:nvSpPr>
        <p:spPr>
          <a:xfrm>
            <a:off x="5453590" y="4112679"/>
            <a:ext cx="774012" cy="307777"/>
          </a:xfrm>
          <a:prstGeom prst="rect">
            <a:avLst/>
          </a:prstGeom>
          <a:solidFill>
            <a:schemeClr val="accent6">
              <a:lumMod val="75000"/>
            </a:schemeClr>
          </a:solidFill>
        </p:spPr>
        <p:txBody>
          <a:bodyPr wrap="square" rtlCol="0">
            <a:spAutoFit/>
          </a:bodyPr>
          <a:lstStyle/>
          <a:p>
            <a:pPr algn="ctr"/>
            <a:r>
              <a:rPr lang="en-US" sz="1400" dirty="0">
                <a:solidFill>
                  <a:schemeClr val="bg1">
                    <a:lumMod val="85000"/>
                  </a:schemeClr>
                </a:solidFill>
                <a:latin typeface="Segoe UI" panose="020B0502040204020203" pitchFamily="34" charset="0"/>
                <a:cs typeface="Segoe UI" panose="020B0502040204020203" pitchFamily="34" charset="0"/>
              </a:rPr>
              <a:t>$1M</a:t>
            </a:r>
          </a:p>
        </p:txBody>
      </p:sp>
      <p:sp>
        <p:nvSpPr>
          <p:cNvPr id="23" name="TextBox 22">
            <a:extLst>
              <a:ext uri="{FF2B5EF4-FFF2-40B4-BE49-F238E27FC236}">
                <a16:creationId xmlns:a16="http://schemas.microsoft.com/office/drawing/2014/main" id="{2A91F702-6E27-676A-19FE-5141554E6768}"/>
              </a:ext>
            </a:extLst>
          </p:cNvPr>
          <p:cNvSpPr txBox="1"/>
          <p:nvPr/>
        </p:nvSpPr>
        <p:spPr>
          <a:xfrm>
            <a:off x="7984143" y="1234217"/>
            <a:ext cx="774012" cy="307777"/>
          </a:xfrm>
          <a:prstGeom prst="rect">
            <a:avLst/>
          </a:prstGeom>
          <a:noFill/>
        </p:spPr>
        <p:txBody>
          <a:bodyPr wrap="square" rtlCol="0">
            <a:spAutoFit/>
          </a:bodyPr>
          <a:lstStyle/>
          <a:p>
            <a:pPr algn="ctr"/>
            <a:r>
              <a:rPr lang="en-US" sz="1400" dirty="0">
                <a:solidFill>
                  <a:schemeClr val="bg1">
                    <a:lumMod val="85000"/>
                  </a:schemeClr>
                </a:solidFill>
                <a:latin typeface="Segoe UI" panose="020B0502040204020203" pitchFamily="34" charset="0"/>
                <a:cs typeface="Segoe UI" panose="020B0502040204020203" pitchFamily="34" charset="0"/>
              </a:rPr>
              <a:t>$26.6M</a:t>
            </a:r>
          </a:p>
        </p:txBody>
      </p:sp>
      <p:sp>
        <p:nvSpPr>
          <p:cNvPr id="26" name="TextBox 25">
            <a:extLst>
              <a:ext uri="{FF2B5EF4-FFF2-40B4-BE49-F238E27FC236}">
                <a16:creationId xmlns:a16="http://schemas.microsoft.com/office/drawing/2014/main" id="{2C92BB87-0F01-EE4B-BE44-836C901E73E5}"/>
              </a:ext>
            </a:extLst>
          </p:cNvPr>
          <p:cNvSpPr txBox="1"/>
          <p:nvPr/>
        </p:nvSpPr>
        <p:spPr>
          <a:xfrm>
            <a:off x="5448242" y="6314749"/>
            <a:ext cx="774012" cy="307777"/>
          </a:xfrm>
          <a:prstGeom prst="rect">
            <a:avLst/>
          </a:prstGeom>
          <a:noFill/>
        </p:spPr>
        <p:txBody>
          <a:bodyPr wrap="square" rtlCol="0">
            <a:spAutoFit/>
          </a:bodyPr>
          <a:lstStyle/>
          <a:p>
            <a:pPr algn="ctr"/>
            <a:r>
              <a:rPr lang="en-US" sz="1400" dirty="0">
                <a:solidFill>
                  <a:schemeClr val="bg1">
                    <a:lumMod val="85000"/>
                  </a:schemeClr>
                </a:solidFill>
                <a:latin typeface="Segoe UI" panose="020B0502040204020203" pitchFamily="34" charset="0"/>
                <a:cs typeface="Segoe UI" panose="020B0502040204020203" pitchFamily="34" charset="0"/>
              </a:rPr>
              <a:t>2025</a:t>
            </a:r>
          </a:p>
        </p:txBody>
      </p:sp>
      <p:sp>
        <p:nvSpPr>
          <p:cNvPr id="27" name="TextBox 26">
            <a:extLst>
              <a:ext uri="{FF2B5EF4-FFF2-40B4-BE49-F238E27FC236}">
                <a16:creationId xmlns:a16="http://schemas.microsoft.com/office/drawing/2014/main" id="{AC826A09-BCCB-AA49-133D-5FCEB50F4F15}"/>
              </a:ext>
            </a:extLst>
          </p:cNvPr>
          <p:cNvSpPr txBox="1"/>
          <p:nvPr/>
        </p:nvSpPr>
        <p:spPr>
          <a:xfrm>
            <a:off x="6667442" y="6314749"/>
            <a:ext cx="774012" cy="307777"/>
          </a:xfrm>
          <a:prstGeom prst="rect">
            <a:avLst/>
          </a:prstGeom>
          <a:noFill/>
        </p:spPr>
        <p:txBody>
          <a:bodyPr wrap="square" rtlCol="0">
            <a:spAutoFit/>
          </a:bodyPr>
          <a:lstStyle/>
          <a:p>
            <a:pPr algn="ctr"/>
            <a:r>
              <a:rPr lang="en-US" sz="1400" dirty="0">
                <a:solidFill>
                  <a:schemeClr val="bg1">
                    <a:lumMod val="85000"/>
                  </a:schemeClr>
                </a:solidFill>
                <a:latin typeface="Segoe UI" panose="020B0502040204020203" pitchFamily="34" charset="0"/>
                <a:cs typeface="Segoe UI" panose="020B0502040204020203" pitchFamily="34" charset="0"/>
              </a:rPr>
              <a:t>2026</a:t>
            </a:r>
          </a:p>
        </p:txBody>
      </p:sp>
      <p:sp>
        <p:nvSpPr>
          <p:cNvPr id="28" name="TextBox 27">
            <a:extLst>
              <a:ext uri="{FF2B5EF4-FFF2-40B4-BE49-F238E27FC236}">
                <a16:creationId xmlns:a16="http://schemas.microsoft.com/office/drawing/2014/main" id="{3FFDDA19-9A89-240D-68E2-72CFF4BA924C}"/>
              </a:ext>
            </a:extLst>
          </p:cNvPr>
          <p:cNvSpPr txBox="1"/>
          <p:nvPr/>
        </p:nvSpPr>
        <p:spPr>
          <a:xfrm>
            <a:off x="7953573" y="6314749"/>
            <a:ext cx="774012" cy="307777"/>
          </a:xfrm>
          <a:prstGeom prst="rect">
            <a:avLst/>
          </a:prstGeom>
          <a:noFill/>
        </p:spPr>
        <p:txBody>
          <a:bodyPr wrap="square" rtlCol="0">
            <a:spAutoFit/>
          </a:bodyPr>
          <a:lstStyle/>
          <a:p>
            <a:pPr algn="ctr"/>
            <a:r>
              <a:rPr lang="en-US" sz="1400" dirty="0">
                <a:solidFill>
                  <a:schemeClr val="bg1">
                    <a:lumMod val="85000"/>
                  </a:schemeClr>
                </a:solidFill>
                <a:latin typeface="Segoe UI" panose="020B0502040204020203" pitchFamily="34" charset="0"/>
                <a:cs typeface="Segoe UI" panose="020B0502040204020203" pitchFamily="34" charset="0"/>
              </a:rPr>
              <a:t>2027</a:t>
            </a:r>
          </a:p>
        </p:txBody>
      </p:sp>
      <p:sp>
        <p:nvSpPr>
          <p:cNvPr id="29" name="TextBox 28">
            <a:extLst>
              <a:ext uri="{FF2B5EF4-FFF2-40B4-BE49-F238E27FC236}">
                <a16:creationId xmlns:a16="http://schemas.microsoft.com/office/drawing/2014/main" id="{5D8D5923-977D-1621-6C15-C11074F8C560}"/>
              </a:ext>
            </a:extLst>
          </p:cNvPr>
          <p:cNvSpPr txBox="1"/>
          <p:nvPr/>
        </p:nvSpPr>
        <p:spPr>
          <a:xfrm>
            <a:off x="4468657" y="4054054"/>
            <a:ext cx="774012" cy="307777"/>
          </a:xfrm>
          <a:prstGeom prst="rect">
            <a:avLst/>
          </a:prstGeom>
          <a:noFill/>
        </p:spPr>
        <p:txBody>
          <a:bodyPr wrap="square" rtlCol="0">
            <a:spAutoFit/>
          </a:bodyPr>
          <a:lstStyle/>
          <a:p>
            <a:pPr algn="ctr"/>
            <a:r>
              <a:rPr lang="en-US" sz="1400" dirty="0">
                <a:solidFill>
                  <a:schemeClr val="bg1">
                    <a:lumMod val="75000"/>
                  </a:schemeClr>
                </a:solidFill>
                <a:latin typeface="Segoe UI" panose="020B0502040204020203" pitchFamily="34" charset="0"/>
                <a:cs typeface="Segoe UI" panose="020B0502040204020203" pitchFamily="34" charset="0"/>
              </a:rPr>
              <a:t>REV</a:t>
            </a:r>
          </a:p>
        </p:txBody>
      </p:sp>
      <p:sp>
        <p:nvSpPr>
          <p:cNvPr id="30" name="TextBox 29">
            <a:extLst>
              <a:ext uri="{FF2B5EF4-FFF2-40B4-BE49-F238E27FC236}">
                <a16:creationId xmlns:a16="http://schemas.microsoft.com/office/drawing/2014/main" id="{08A852D6-82AD-F361-6456-C6E76331AE75}"/>
              </a:ext>
            </a:extLst>
          </p:cNvPr>
          <p:cNvSpPr txBox="1"/>
          <p:nvPr/>
        </p:nvSpPr>
        <p:spPr>
          <a:xfrm>
            <a:off x="4468657" y="4459410"/>
            <a:ext cx="774012" cy="307777"/>
          </a:xfrm>
          <a:prstGeom prst="rect">
            <a:avLst/>
          </a:prstGeom>
          <a:noFill/>
        </p:spPr>
        <p:txBody>
          <a:bodyPr wrap="square" rtlCol="0">
            <a:spAutoFit/>
          </a:bodyPr>
          <a:lstStyle/>
          <a:p>
            <a:pPr algn="ctr"/>
            <a:r>
              <a:rPr lang="en-US" sz="1400" dirty="0">
                <a:solidFill>
                  <a:schemeClr val="bg1">
                    <a:lumMod val="75000"/>
                  </a:schemeClr>
                </a:solidFill>
                <a:latin typeface="Segoe UI" panose="020B0502040204020203" pitchFamily="34" charset="0"/>
                <a:cs typeface="Segoe UI" panose="020B0502040204020203" pitchFamily="34" charset="0"/>
              </a:rPr>
              <a:t>EXP</a:t>
            </a:r>
          </a:p>
        </p:txBody>
      </p:sp>
      <p:sp>
        <p:nvSpPr>
          <p:cNvPr id="34" name="TextBox 33">
            <a:extLst>
              <a:ext uri="{FF2B5EF4-FFF2-40B4-BE49-F238E27FC236}">
                <a16:creationId xmlns:a16="http://schemas.microsoft.com/office/drawing/2014/main" id="{9C8E5999-D214-F15B-C057-035A6ADEBCEA}"/>
              </a:ext>
            </a:extLst>
          </p:cNvPr>
          <p:cNvSpPr txBox="1"/>
          <p:nvPr/>
        </p:nvSpPr>
        <p:spPr>
          <a:xfrm>
            <a:off x="6281704" y="2627526"/>
            <a:ext cx="1637002" cy="430887"/>
          </a:xfrm>
          <a:prstGeom prst="rect">
            <a:avLst/>
          </a:prstGeom>
          <a:noFill/>
        </p:spPr>
        <p:txBody>
          <a:bodyPr wrap="square" rtlCol="0">
            <a:spAutoFit/>
          </a:bodyPr>
          <a:lstStyle/>
          <a:p>
            <a:pPr algn="ctr"/>
            <a:r>
              <a:rPr lang="en-US" sz="1100" dirty="0">
                <a:solidFill>
                  <a:schemeClr val="bg1">
                    <a:lumMod val="85000"/>
                  </a:schemeClr>
                </a:solidFill>
                <a:latin typeface="Segoe UI" panose="020B0502040204020203" pitchFamily="34" charset="0"/>
                <a:cs typeface="Segoe UI" panose="020B0502040204020203" pitchFamily="34" charset="0"/>
              </a:rPr>
              <a:t>$$ Profitable </a:t>
            </a:r>
          </a:p>
          <a:p>
            <a:pPr algn="ctr"/>
            <a:r>
              <a:rPr lang="en-US" sz="1100" dirty="0">
                <a:solidFill>
                  <a:schemeClr val="bg1">
                    <a:lumMod val="85000"/>
                  </a:schemeClr>
                </a:solidFill>
                <a:latin typeface="Segoe UI" panose="020B0502040204020203" pitchFamily="34" charset="0"/>
                <a:cs typeface="Segoe UI" panose="020B0502040204020203" pitchFamily="34" charset="0"/>
              </a:rPr>
              <a:t>Year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1146</Words>
  <Application>Microsoft Office PowerPoint</Application>
  <PresentationFormat>Widescreen</PresentationFormat>
  <Paragraphs>180</Paragraphs>
  <Slides>4</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vt:i4>
      </vt:variant>
    </vt:vector>
  </HeadingPairs>
  <TitlesOfParts>
    <vt:vector size="13" baseType="lpstr">
      <vt:lpstr>Aptos</vt:lpstr>
      <vt:lpstr>Aptos Display</vt:lpstr>
      <vt:lpstr>Arial</vt:lpstr>
      <vt:lpstr>Calibri</vt:lpstr>
      <vt:lpstr>Montserrat</vt:lpstr>
      <vt:lpstr>Segoe UI</vt:lpstr>
      <vt:lpstr>Segoe UI Semibold</vt:lpstr>
      <vt:lpstr>Segoe UI Semilight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Mike Pell</dc:creator>
  <cp:lastModifiedBy>Mike Pell</cp:lastModifiedBy>
  <cp:revision>1</cp:revision>
  <dcterms:created xsi:type="dcterms:W3CDTF">2025-08-02T23:57:31Z</dcterms:created>
  <dcterms:modified xsi:type="dcterms:W3CDTF">2025-08-24T23:40:11Z</dcterms:modified>
</cp:coreProperties>
</file>